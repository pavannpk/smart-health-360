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047857"/>
                </a:solidFill>
              </a:rPr>
              <a:t>SMART HEALTH 360 - PHARMACY PAYMENT APPLICATION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300" dirty="0">
                <a:b/>
                <a:solidFill>
                  <a:srgbClr val="17202A"/>
                </a:solidFill>
              </a:rPr>
              <a:t>Pharmacy Payment &amp; Medicine Sales Application</a:t>
            </a:r>
            <a:endParaRPr lang="en-US" sz="3300" dirty="0"/>
          </a:p>
        </p:txBody>
      </p:sp>
      <p:sp>
        <p:nvSpPr>
          <p:cNvPr id="4" name="Accent"/>
          <p:cNvSpPr/>
          <p:nvPr/>
        </p:nvSpPr>
        <p:spPr>
          <a:xfrm>
            <a:off x="520000" y="1520000"/>
            <a:ext cx="2800000" cy="90000"/>
          </a:xfr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 5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Smart Health 360 future extension</a:t>
            </a:r>
            <a:endParaRPr lang="en-US" sz="1950" dirty="0"/>
          </a:p>
        </p:txBody>
      </p:sp>
      <p:sp>
        <p:nvSpPr>
          <p:cNvPr id="6" name="Bullet 6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Physical pharmacy billing first</a:t>
            </a:r>
            <a:endParaRPr lang="en-US" sz="1950" dirty="0"/>
          </a:p>
        </p:txBody>
      </p:sp>
      <p:sp>
        <p:nvSpPr>
          <p:cNvPr id="7" name="Bullet 7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Future: online medicine sales, mobile app, prescription upload, delivery, AI</a:t>
            </a:r>
            <a:endParaRPr lang="en-US" sz="1950" dirty="0"/>
          </a:p>
        </p:txBody>
      </p:sp>
      <p:sp>
        <p:nvSpPr>
          <p:cNvPr id="50" name="Slide No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94A3B8"/>
                </a:solidFill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047857"/>
                </a:solidFill>
              </a:rPr>
              <a:t>SMART HEALTH 360 - PHARMACY PAYMENT APPLICATION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300" dirty="0">
                <a:b/>
                <a:solidFill>
                  <a:srgbClr val="17202A"/>
                </a:solidFill>
              </a:rPr>
              <a:t>Why This Platform Is Needed</a:t>
            </a:r>
            <a:endParaRPr lang="en-US" sz="3300" dirty="0"/>
          </a:p>
        </p:txBody>
      </p:sp>
      <p:sp>
        <p:nvSpPr>
          <p:cNvPr id="4" name="Accent"/>
          <p:cNvSpPr/>
          <p:nvPr/>
        </p:nvSpPr>
        <p:spPr>
          <a:xfrm>
            <a:off x="520000" y="1520000"/>
            <a:ext cx="2800000" cy="90000"/>
          </a:xfr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 5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Reduce billing errors and manual stock mismatch</a:t>
            </a:r>
            <a:endParaRPr lang="en-US" sz="1950" dirty="0"/>
          </a:p>
        </p:txBody>
      </p:sp>
      <p:sp>
        <p:nvSpPr>
          <p:cNvPr id="6" name="Bullet 6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Track branch-wise medicine stock, batch, expiry, price, and GST</a:t>
            </a:r>
            <a:endParaRPr lang="en-US" sz="1950" dirty="0"/>
          </a:p>
        </p:txBody>
      </p:sp>
      <p:sp>
        <p:nvSpPr>
          <p:cNvPr id="7" name="Bullet 7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Give owners central visibility across many pharmacy locations</a:t>
            </a:r>
            <a:endParaRPr lang="en-US" sz="1950" dirty="0"/>
          </a:p>
        </p:txBody>
      </p:sp>
      <p:sp>
        <p:nvSpPr>
          <p:cNvPr id="8" name="Bullet 8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Prepare the business for future online medicine selling</a:t>
            </a:r>
            <a:endParaRPr lang="en-US" sz="1950" dirty="0"/>
          </a:p>
        </p:txBody>
      </p:sp>
      <p:sp>
        <p:nvSpPr>
          <p:cNvPr id="50" name="Slide No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94A3B8"/>
                </a:solidFill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047857"/>
                </a:solidFill>
              </a:rPr>
              <a:t>SMART HEALTH 360 - PHARMACY PAYMENT APPLICATION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300" dirty="0">
                <a:b/>
                <a:solidFill>
                  <a:srgbClr val="17202A"/>
                </a:solidFill>
              </a:rPr>
              <a:t>Physical Store Billing Flow</a:t>
            </a:r>
            <a:endParaRPr lang="en-US" sz="3300" dirty="0"/>
          </a:p>
        </p:txBody>
      </p:sp>
      <p:sp>
        <p:nvSpPr>
          <p:cNvPr id="4" name="Accent"/>
          <p:cNvSpPr/>
          <p:nvPr/>
        </p:nvSpPr>
        <p:spPr>
          <a:xfrm>
            <a:off x="520000" y="1520000"/>
            <a:ext cx="2800000" cy="90000"/>
          </a:xfr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 5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Customer enters pharmacy</a:t>
            </a:r>
            <a:endParaRPr lang="en-US" sz="1950" dirty="0"/>
          </a:p>
        </p:txBody>
      </p:sp>
      <p:sp>
        <p:nvSpPr>
          <p:cNvPr id="6" name="Bullet 6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Cashier searches/adds customer</a:t>
            </a:r>
            <a:endParaRPr lang="en-US" sz="1950" dirty="0"/>
          </a:p>
        </p:txBody>
      </p:sp>
      <p:sp>
        <p:nvSpPr>
          <p:cNvPr id="7" name="Bullet 7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Scan barcode or search medicine</a:t>
            </a:r>
            <a:endParaRPr lang="en-US" sz="1950" dirty="0"/>
          </a:p>
        </p:txBody>
      </p:sp>
      <p:sp>
        <p:nvSpPr>
          <p:cNvPr id="8" name="Bullet 8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Check branch stock, batch, expiry, and prescription rule</a:t>
            </a:r>
            <a:endParaRPr lang="en-US" sz="1950" dirty="0"/>
          </a:p>
        </p:txBody>
      </p:sp>
      <p:sp>
        <p:nvSpPr>
          <p:cNvPr id="9" name="Bullet 9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Add to cart, calculate GST/discount, collect payment</a:t>
            </a:r>
            <a:endParaRPr lang="en-US" sz="1950" dirty="0"/>
          </a:p>
        </p:txBody>
      </p:sp>
      <p:sp>
        <p:nvSpPr>
          <p:cNvPr id="10" name="Bullet 10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Generate invoice, reduce stock, update reports</a:t>
            </a:r>
            <a:endParaRPr lang="en-US" sz="1950" dirty="0"/>
          </a:p>
        </p:txBody>
      </p:sp>
      <p:sp>
        <p:nvSpPr>
          <p:cNvPr id="50" name="Slide No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94A3B8"/>
                </a:solidFill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047857"/>
                </a:solidFill>
              </a:rPr>
              <a:t>SMART HEALTH 360 - PHARMACY PAYMENT APPLICATION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300" dirty="0">
                <a:b/>
                <a:solidFill>
                  <a:srgbClr val="17202A"/>
                </a:solidFill>
              </a:rPr>
              <a:t>Real-Time Example</a:t>
            </a:r>
            <a:endParaRPr lang="en-US" sz="3300" dirty="0"/>
          </a:p>
        </p:txBody>
      </p:sp>
      <p:sp>
        <p:nvSpPr>
          <p:cNvPr id="4" name="Accent"/>
          <p:cNvSpPr/>
          <p:nvPr/>
        </p:nvSpPr>
        <p:spPr>
          <a:xfrm>
            <a:off x="520000" y="1520000"/>
            <a:ext cx="2800000" cy="90000"/>
          </a:xfr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 5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Branch: Hyderabad Gachibowli</a:t>
            </a:r>
            <a:endParaRPr lang="en-US" sz="1950" dirty="0"/>
          </a:p>
        </p:txBody>
      </p:sp>
      <p:sp>
        <p:nvSpPr>
          <p:cNvPr id="6" name="Bullet 6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Items: Dolo 650 - 2 strips, Vitamin D - 1 strip</a:t>
            </a:r>
            <a:endParaRPr lang="en-US" sz="1950" dirty="0"/>
          </a:p>
        </p:txBody>
      </p:sp>
      <p:sp>
        <p:nvSpPr>
          <p:cNvPr id="7" name="Bullet 7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Payment: UPI</a:t>
            </a:r>
            <a:endParaRPr lang="en-US" sz="1950" dirty="0"/>
          </a:p>
        </p:txBody>
      </p:sp>
      <p:sp>
        <p:nvSpPr>
          <p:cNvPr id="8" name="Bullet 8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System validates stock and expiry, confirms payment, creates invoice, reduces inventory, saves audit log</a:t>
            </a:r>
            <a:endParaRPr lang="en-US" sz="1950" dirty="0"/>
          </a:p>
        </p:txBody>
      </p:sp>
      <p:sp>
        <p:nvSpPr>
          <p:cNvPr id="50" name="Slide No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94A3B8"/>
                </a:solidFill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047857"/>
                </a:solidFill>
              </a:rPr>
              <a:t>SMART HEALTH 360 - PHARMACY PAYMENT APPLICATION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300" dirty="0">
                <a:b/>
                <a:solidFill>
                  <a:srgbClr val="17202A"/>
                </a:solidFill>
              </a:rPr>
              <a:t>Information To Collect</a:t>
            </a:r>
            <a:endParaRPr lang="en-US" sz="3300" dirty="0"/>
          </a:p>
        </p:txBody>
      </p:sp>
      <p:sp>
        <p:nvSpPr>
          <p:cNvPr id="4" name="Accent"/>
          <p:cNvSpPr/>
          <p:nvPr/>
        </p:nvSpPr>
        <p:spPr>
          <a:xfrm>
            <a:off x="520000" y="1520000"/>
            <a:ext cx="2800000" cy="90000"/>
          </a:xfr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 5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Branch: name, address, GST, manager, hours, status</a:t>
            </a:r>
            <a:endParaRPr lang="en-US" sz="1950" dirty="0"/>
          </a:p>
        </p:txBody>
      </p:sp>
      <p:sp>
        <p:nvSpPr>
          <p:cNvPr id="6" name="Bullet 6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Staff: name, role, branch, login access, status</a:t>
            </a:r>
            <a:endParaRPr lang="en-US" sz="1950" dirty="0"/>
          </a:p>
        </p:txBody>
      </p:sp>
      <p:sp>
        <p:nvSpPr>
          <p:cNvPr id="7" name="Bullet 7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Medicine: name, generic, barcode, batch, expiry, MRP, selling price, GST</a:t>
            </a:r>
            <a:endParaRPr lang="en-US" sz="1950" dirty="0"/>
          </a:p>
        </p:txBody>
      </p:sp>
      <p:sp>
        <p:nvSpPr>
          <p:cNvPr id="8" name="Bullet 8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Inventory: branch, medicine, batch, quantity, rack, minimum stock</a:t>
            </a:r>
            <a:endParaRPr lang="en-US" sz="1950" dirty="0"/>
          </a:p>
        </p:txBody>
      </p:sp>
      <p:sp>
        <p:nvSpPr>
          <p:cNvPr id="9" name="Bullet 9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Payment: mode, amount, reference, gateway response, status</a:t>
            </a:r>
            <a:endParaRPr lang="en-US" sz="1950" dirty="0"/>
          </a:p>
        </p:txBody>
      </p:sp>
      <p:sp>
        <p:nvSpPr>
          <p:cNvPr id="10" name="Bullet 10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Audit: user, action, old/new value, branch, device, timestamp</a:t>
            </a:r>
            <a:endParaRPr lang="en-US" sz="1950" dirty="0"/>
          </a:p>
        </p:txBody>
      </p:sp>
      <p:sp>
        <p:nvSpPr>
          <p:cNvPr id="50" name="Slide No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94A3B8"/>
                </a:solidFill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047857"/>
                </a:solidFill>
              </a:rPr>
              <a:t>SMART HEALTH 360 - PHARMACY PAYMENT APPLICATION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300" dirty="0">
                <a:b/>
                <a:solidFill>
                  <a:srgbClr val="17202A"/>
                </a:solidFill>
              </a:rPr>
              <a:t>Returns And Refunds</a:t>
            </a:r>
            <a:endParaRPr lang="en-US" sz="3300" dirty="0"/>
          </a:p>
        </p:txBody>
      </p:sp>
      <p:sp>
        <p:nvSpPr>
          <p:cNvPr id="4" name="Accent"/>
          <p:cNvSpPr/>
          <p:nvPr/>
        </p:nvSpPr>
        <p:spPr>
          <a:xfrm>
            <a:off x="520000" y="1520000"/>
            <a:ext cx="2800000" cy="90000"/>
          </a:xfr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 5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Find original invoice</a:t>
            </a:r>
            <a:endParaRPr lang="en-US" sz="1950" dirty="0"/>
          </a:p>
        </p:txBody>
      </p:sp>
      <p:sp>
        <p:nvSpPr>
          <p:cNvPr id="6" name="Bullet 6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Validate return policy</a:t>
            </a:r>
            <a:endParaRPr lang="en-US" sz="1950" dirty="0"/>
          </a:p>
        </p:txBody>
      </p:sp>
      <p:sp>
        <p:nvSpPr>
          <p:cNvPr id="7" name="Bullet 7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Select returned medicines and reason</a:t>
            </a:r>
            <a:endParaRPr lang="en-US" sz="1950" dirty="0"/>
          </a:p>
        </p:txBody>
      </p:sp>
      <p:sp>
        <p:nvSpPr>
          <p:cNvPr id="8" name="Bullet 8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Get approval when required</a:t>
            </a:r>
            <a:endParaRPr lang="en-US" sz="1950" dirty="0"/>
          </a:p>
        </p:txBody>
      </p:sp>
      <p:sp>
        <p:nvSpPr>
          <p:cNvPr id="9" name="Bullet 9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Process refund</a:t>
            </a:r>
            <a:endParaRPr lang="en-US" sz="1950" dirty="0"/>
          </a:p>
        </p:txBody>
      </p:sp>
      <p:sp>
        <p:nvSpPr>
          <p:cNvPr id="10" name="Bullet 10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Update stock and create audit record</a:t>
            </a:r>
            <a:endParaRPr lang="en-US" sz="1950" dirty="0"/>
          </a:p>
        </p:txBody>
      </p:sp>
      <p:sp>
        <p:nvSpPr>
          <p:cNvPr id="50" name="Slide No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94A3B8"/>
                </a:solidFill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047857"/>
                </a:solidFill>
              </a:rPr>
              <a:t>SMART HEALTH 360 - PHARMACY PAYMENT APPLICATION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300" dirty="0">
                <a:b/>
                <a:solidFill>
                  <a:srgbClr val="17202A"/>
                </a:solidFill>
              </a:rPr>
              <a:t>Collaboration Needed</a:t>
            </a:r>
            <a:endParaRPr lang="en-US" sz="3300" dirty="0"/>
          </a:p>
        </p:txBody>
      </p:sp>
      <p:sp>
        <p:nvSpPr>
          <p:cNvPr id="4" name="Accent"/>
          <p:cNvSpPr/>
          <p:nvPr/>
        </p:nvSpPr>
        <p:spPr>
          <a:xfrm>
            <a:off x="520000" y="1520000"/>
            <a:ext cx="2800000" cy="90000"/>
          </a:xfr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 5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Doctors/owners define business and prescription rules</a:t>
            </a:r>
            <a:endParaRPr lang="en-US" sz="1950" dirty="0"/>
          </a:p>
        </p:txBody>
      </p:sp>
      <p:sp>
        <p:nvSpPr>
          <p:cNvPr id="6" name="Bullet 6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Pharmacists define medicine, batch, expiry, and substitute rules</a:t>
            </a:r>
            <a:endParaRPr lang="en-US" sz="1950" dirty="0"/>
          </a:p>
        </p:txBody>
      </p:sp>
      <p:sp>
        <p:nvSpPr>
          <p:cNvPr id="7" name="Bullet 7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Accountants define GST, closing, refund, and reconciliation reports</a:t>
            </a:r>
            <a:endParaRPr lang="en-US" sz="1950" dirty="0"/>
          </a:p>
        </p:txBody>
      </p:sp>
      <p:sp>
        <p:nvSpPr>
          <p:cNvPr id="8" name="Bullet 8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Inventory team defines purchase, stock transfer, low stock, and expiry flow</a:t>
            </a:r>
            <a:endParaRPr lang="en-US" sz="1950" dirty="0"/>
          </a:p>
        </p:txBody>
      </p:sp>
      <p:sp>
        <p:nvSpPr>
          <p:cNvPr id="9" name="Bullet 9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Technical team builds app, APIs, database, security, hosting, integrations</a:t>
            </a:r>
            <a:endParaRPr lang="en-US" sz="1950" dirty="0"/>
          </a:p>
        </p:txBody>
      </p:sp>
      <p:sp>
        <p:nvSpPr>
          <p:cNvPr id="50" name="Slide No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94A3B8"/>
                </a:solidFill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047857"/>
                </a:solidFill>
              </a:rPr>
              <a:t>SMART HEALTH 360 - PHARMACY PAYMENT APPLICATION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300" dirty="0">
                <a:b/>
                <a:solidFill>
                  <a:srgbClr val="17202A"/>
                </a:solidFill>
              </a:rPr>
              <a:t>Recommended Tech Stack</a:t>
            </a:r>
            <a:endParaRPr lang="en-US" sz="3300" dirty="0"/>
          </a:p>
        </p:txBody>
      </p:sp>
      <p:sp>
        <p:nvSpPr>
          <p:cNvPr id="4" name="Accent"/>
          <p:cNvSpPr/>
          <p:nvPr/>
        </p:nvSpPr>
        <p:spPr>
          <a:xfrm>
            <a:off x="520000" y="1520000"/>
            <a:ext cx="2800000" cy="90000"/>
          </a:xfr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 5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Angular: POS, admin dashboard, inventory, reports</a:t>
            </a:r>
            <a:endParaRPr lang="en-US" sz="1950" dirty="0"/>
          </a:p>
        </p:txBody>
      </p:sp>
      <p:sp>
        <p:nvSpPr>
          <p:cNvPr id="6" name="Bullet 6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Spring Boot: secure APIs, business rules, transactions, audit</a:t>
            </a:r>
            <a:endParaRPr lang="en-US" sz="1950" dirty="0"/>
          </a:p>
        </p:txBody>
      </p:sp>
      <p:sp>
        <p:nvSpPr>
          <p:cNvPr id="7" name="Bullet 7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PostgreSQL: invoices, payments, inventory, GST, reports</a:t>
            </a:r>
            <a:endParaRPr lang="en-US" sz="1950" dirty="0"/>
          </a:p>
        </p:txBody>
      </p:sp>
      <p:sp>
        <p:nvSpPr>
          <p:cNvPr id="8" name="Bullet 8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AWS S3: prescriptions, invoice PDFs, images, exports</a:t>
            </a:r>
            <a:endParaRPr lang="en-US" sz="1950" dirty="0"/>
          </a:p>
        </p:txBody>
      </p:sp>
      <p:sp>
        <p:nvSpPr>
          <p:cNvPr id="9" name="Bullet 9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Redis: cache, fast search, sessions, counters</a:t>
            </a:r>
            <a:endParaRPr lang="en-US" sz="1950" dirty="0"/>
          </a:p>
        </p:txBody>
      </p:sp>
      <p:sp>
        <p:nvSpPr>
          <p:cNvPr id="10" name="Bullet 10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Payment gateway: Razorpay, PhonePe PG, PayU, or Cashfree</a:t>
            </a:r>
            <a:endParaRPr lang="en-US" sz="1950" dirty="0"/>
          </a:p>
        </p:txBody>
      </p:sp>
      <p:sp>
        <p:nvSpPr>
          <p:cNvPr id="50" name="Slide No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94A3B8"/>
                </a:solidFill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047857"/>
                </a:solidFill>
              </a:rPr>
              <a:t>SMART HEALTH 360 - PHARMACY PAYMENT APPLICATION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300" dirty="0">
                <a:b/>
                <a:solidFill>
                  <a:srgbClr val="17202A"/>
                </a:solidFill>
              </a:rPr>
              <a:t>Architecture Strategy</a:t>
            </a:r>
            <a:endParaRPr lang="en-US" sz="3300" dirty="0"/>
          </a:p>
        </p:txBody>
      </p:sp>
      <p:sp>
        <p:nvSpPr>
          <p:cNvPr id="4" name="Accent"/>
          <p:cNvSpPr/>
          <p:nvPr/>
        </p:nvSpPr>
        <p:spPr>
          <a:xfrm>
            <a:off x="520000" y="1520000"/>
            <a:ext cx="2800000" cy="90000"/>
          </a:xfr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 5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Start with a modular monolith</a:t>
            </a:r>
            <a:endParaRPr lang="en-US" sz="1950" dirty="0"/>
          </a:p>
        </p:txBody>
      </p:sp>
      <p:sp>
        <p:nvSpPr>
          <p:cNvPr id="6" name="Bullet 6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Angular web app connects to Spring Boot API</a:t>
            </a:r>
            <a:endParaRPr lang="en-US" sz="1950" dirty="0"/>
          </a:p>
        </p:txBody>
      </p:sp>
      <p:sp>
        <p:nvSpPr>
          <p:cNvPr id="7" name="Bullet 7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Spring Boot connects to PostgreSQL, Redis, S3, and payment gateway</a:t>
            </a:r>
            <a:endParaRPr lang="en-US" sz="1950" dirty="0"/>
          </a:p>
        </p:txBody>
      </p:sp>
      <p:sp>
        <p:nvSpPr>
          <p:cNvPr id="8" name="Bullet 8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Add Kafka/RabbitMQ later for async reports, notifications, audit, and payment events</a:t>
            </a:r>
            <a:endParaRPr lang="en-US" sz="1950" dirty="0"/>
          </a:p>
        </p:txBody>
      </p:sp>
      <p:sp>
        <p:nvSpPr>
          <p:cNvPr id="9" name="Bullet 9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Split into microservices only when scale requires it</a:t>
            </a:r>
            <a:endParaRPr lang="en-US" sz="1950" dirty="0"/>
          </a:p>
        </p:txBody>
      </p:sp>
      <p:sp>
        <p:nvSpPr>
          <p:cNvPr id="50" name="Slide No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94A3B8"/>
                </a:solidFill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047857"/>
                </a:solidFill>
              </a:rPr>
              <a:t>SMART HEALTH 360 - PHARMACY PAYMENT APPLICATION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300" dirty="0">
                <a:b/>
                <a:solidFill>
                  <a:srgbClr val="17202A"/>
                </a:solidFill>
              </a:rPr>
              <a:t>Backend Transaction Flow</a:t>
            </a:r>
            <a:endParaRPr lang="en-US" sz="3300" dirty="0"/>
          </a:p>
        </p:txBody>
      </p:sp>
      <p:sp>
        <p:nvSpPr>
          <p:cNvPr id="4" name="Accent"/>
          <p:cNvSpPr/>
          <p:nvPr/>
        </p:nvSpPr>
        <p:spPr>
          <a:xfrm>
            <a:off x="520000" y="1520000"/>
            <a:ext cx="2800000" cy="90000"/>
          </a:xfr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 5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Validate user, role, branch, and permissions</a:t>
            </a:r>
            <a:endParaRPr lang="en-US" sz="1950" dirty="0"/>
          </a:p>
        </p:txBody>
      </p:sp>
      <p:sp>
        <p:nvSpPr>
          <p:cNvPr id="6" name="Bullet 6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Validate cart items, batch, expiry, prescription, and stock</a:t>
            </a:r>
            <a:endParaRPr lang="en-US" sz="1950" dirty="0"/>
          </a:p>
        </p:txBody>
      </p:sp>
      <p:sp>
        <p:nvSpPr>
          <p:cNvPr id="7" name="Bullet 7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Create invoice and invoice items</a:t>
            </a:r>
            <a:endParaRPr lang="en-US" sz="1950" dirty="0"/>
          </a:p>
        </p:txBody>
      </p:sp>
      <p:sp>
        <p:nvSpPr>
          <p:cNvPr id="8" name="Bullet 8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Create payment record</a:t>
            </a:r>
            <a:endParaRPr lang="en-US" sz="1950" dirty="0"/>
          </a:p>
        </p:txBody>
      </p:sp>
      <p:sp>
        <p:nvSpPr>
          <p:cNvPr id="9" name="Bullet 9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Reduce stock and create stock movement</a:t>
            </a:r>
            <a:endParaRPr lang="en-US" sz="1950" dirty="0"/>
          </a:p>
        </p:txBody>
      </p:sp>
      <p:sp>
        <p:nvSpPr>
          <p:cNvPr id="10" name="Bullet 10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Create audit log</a:t>
            </a:r>
            <a:endParaRPr lang="en-US" sz="1950" dirty="0"/>
          </a:p>
        </p:txBody>
      </p:sp>
      <p:sp>
        <p:nvSpPr>
          <p:cNvPr id="11" name="Bullet 11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Commit all together or rollback on failure</a:t>
            </a:r>
            <a:endParaRPr lang="en-US" sz="1950" dirty="0"/>
          </a:p>
        </p:txBody>
      </p:sp>
      <p:sp>
        <p:nvSpPr>
          <p:cNvPr id="50" name="Slide No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94A3B8"/>
                </a:solidFill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047857"/>
                </a:solidFill>
              </a:rPr>
              <a:t>SMART HEALTH 360 - PHARMACY PAYMENT APPLICATION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300" dirty="0">
                <a:b/>
                <a:solidFill>
                  <a:srgbClr val="17202A"/>
                </a:solidFill>
              </a:rPr>
              <a:t>Development Roadmap</a:t>
            </a:r>
            <a:endParaRPr lang="en-US" sz="3300" dirty="0"/>
          </a:p>
        </p:txBody>
      </p:sp>
      <p:sp>
        <p:nvSpPr>
          <p:cNvPr id="4" name="Accent"/>
          <p:cNvSpPr/>
          <p:nvPr/>
        </p:nvSpPr>
        <p:spPr>
          <a:xfrm>
            <a:off x="520000" y="1520000"/>
            <a:ext cx="2800000" cy="90000"/>
          </a:xfr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 5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Phase 1: login, roles, branch setup, medicine master, inventory, billing, payments, invoice, reports</a:t>
            </a:r>
            <a:endParaRPr lang="en-US" sz="1950" dirty="0"/>
          </a:p>
        </p:txBody>
      </p:sp>
      <p:sp>
        <p:nvSpPr>
          <p:cNvPr id="6" name="Bullet 6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Phase 2: returns, refunds, supplier purchase, stock transfer, alerts, audit, prescription upload</a:t>
            </a:r>
            <a:endParaRPr lang="en-US" sz="1950" dirty="0"/>
          </a:p>
        </p:txBody>
      </p:sp>
      <p:sp>
        <p:nvSpPr>
          <p:cNvPr id="7" name="Bullet 7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Phase 3: central dashboard, regional reports, reconciliation, GST reports, Redis, queues</a:t>
            </a:r>
            <a:endParaRPr lang="en-US" sz="1950" dirty="0"/>
          </a:p>
        </p:txBody>
      </p:sp>
      <p:sp>
        <p:nvSpPr>
          <p:cNvPr id="8" name="Bullet 8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Phase 4: online ordering, mobile app, prescription upload, delivery, pickup</a:t>
            </a:r>
            <a:endParaRPr lang="en-US" sz="1950" dirty="0"/>
          </a:p>
        </p:txBody>
      </p:sp>
      <p:sp>
        <p:nvSpPr>
          <p:cNvPr id="9" name="Bullet 9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Phase 5: AI medicine search, prescription reading, stock prediction, anomaly detection</a:t>
            </a:r>
            <a:endParaRPr lang="en-US" sz="1950" dirty="0"/>
          </a:p>
        </p:txBody>
      </p:sp>
      <p:sp>
        <p:nvSpPr>
          <p:cNvPr id="50" name="Slide No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94A3B8"/>
                </a:solidFill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047857"/>
                </a:solidFill>
              </a:rPr>
              <a:t>SMART HEALTH 360 - PHARMACY PAYMENT APPLICATION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300" dirty="0">
                <a:b/>
                <a:solidFill>
                  <a:srgbClr val="17202A"/>
                </a:solidFill>
              </a:rPr>
              <a:t>Final Recommendation</a:t>
            </a:r>
            <a:endParaRPr lang="en-US" sz="3300" dirty="0"/>
          </a:p>
        </p:txBody>
      </p:sp>
      <p:sp>
        <p:nvSpPr>
          <p:cNvPr id="4" name="Accent"/>
          <p:cNvSpPr/>
          <p:nvPr/>
        </p:nvSpPr>
        <p:spPr>
          <a:xfrm>
            <a:off x="520000" y="1520000"/>
            <a:ext cx="2800000" cy="90000"/>
          </a:xfr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 5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Build physical store POS first</a:t>
            </a:r>
            <a:endParaRPr lang="en-US" sz="1950" dirty="0"/>
          </a:p>
        </p:txBody>
      </p:sp>
      <p:sp>
        <p:nvSpPr>
          <p:cNvPr id="6" name="Bullet 6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Use Angular + Spring Boot + PostgreSQL + Redis + AWS S3</a:t>
            </a:r>
            <a:endParaRPr lang="en-US" sz="1950" dirty="0"/>
          </a:p>
        </p:txBody>
      </p:sp>
      <p:sp>
        <p:nvSpPr>
          <p:cNvPr id="7" name="Bullet 7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Use Razorpay / PhonePe PG / PayU / Cashfree for payments</a:t>
            </a:r>
            <a:endParaRPr lang="en-US" sz="1950" dirty="0"/>
          </a:p>
        </p:txBody>
      </p:sp>
      <p:sp>
        <p:nvSpPr>
          <p:cNvPr id="8" name="Bullet 8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Keep the first version as a clean modular monolith</a:t>
            </a:r>
            <a:endParaRPr lang="en-US" sz="1950" dirty="0"/>
          </a:p>
        </p:txBody>
      </p:sp>
      <p:sp>
        <p:nvSpPr>
          <p:cNvPr id="9" name="Bullet 9"/>
          <p:cNvSpPr txBox="1"/>
          <p:nvPr/>
        </p:nvSpPr>
        <p:spPr>
          <a:solidFill>
            <a:srgbClr val="F8FAFC"/>
          </a:solidFill>
          <a:ln>
            <a:srgbClr val="D8DEE9"/>
          </a:ln>
        </p:spPr>
        <p:txBody>
          <a:bodyPr wrap="square" lIns="120000" tIns="80000" rIns="120000" bIns="80000"/>
          <a:lstStyle/>
          <a:p>
            <a:r>
              <a:rPr lang="en-US" sz="1950" dirty="0">
                <a:solidFill>
                  <a:srgbClr val="334155"/>
                </a:solidFill>
              </a:rPr>
              <a:t>• Expand later into online medicine sales, Smart Health 360 connection, mobile app, and AI</a:t>
            </a:r>
            <a:endParaRPr lang="en-US" sz="1950" dirty="0"/>
          </a:p>
        </p:txBody>
      </p:sp>
      <p:sp>
        <p:nvSpPr>
          <p:cNvPr id="50" name="Slide No"/>
          <p:cNvSpPr txBox="1"/>
          <p:nvPr/>
        </p:nvSpPr>
        <p:spPr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200" dirty="0">
                <a:b/>
                <a:solidFill>
                  <a:srgbClr val="94A3B8"/>
                </a:solidFill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Health">
  <a:themeElements>
    <a:clrScheme name="SmartHealth">
      <a:dk1>
        <a:srgbClr val="17202A"/>
      </a:dk1>
      <a:lt1>
        <a:srgbClr val="FFFFFF"/>
      </a:lt1>
      <a:dk2>
        <a:srgbClr val="334155"/>
      </a:dk2>
      <a:lt2>
        <a:srgbClr val="F8FAFC"/>
      </a:lt2>
      <a:accent1>
        <a:srgbClr val="047857"/>
      </a:accent1>
      <a:accent2>
        <a:srgbClr val="1D4ED8"/>
      </a:accent2>
      <a:accent3>
        <a:srgbClr val="B45309"/>
      </a:accent3>
      <a:accent4>
        <a:srgbClr val="B91C1C"/>
      </a:accent4>
      <a:accent5>
        <a:srgbClr val="566573"/>
      </a:accent5>
      <a:accent6>
        <a:srgbClr val="94A3B8"/>
      </a:accent6>
      <a:hlink>
        <a:srgbClr val="1D4ED8"/>
      </a:hlink>
      <a:folHlink>
        <a:srgbClr val="047857"/>
      </a:folHlink>
    </a:clrScheme>
    <a:fontScheme name="Arial">
      <a:majorFont>
        <a:latin typeface="Arial"/>
      </a:majorFont>
      <a:minorFont>
        <a:latin typeface="Arial"/>
      </a:minorFont>
    </a:fontScheme>
    <a:fmtScheme name="Defaul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