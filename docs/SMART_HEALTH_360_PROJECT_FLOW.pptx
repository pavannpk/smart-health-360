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type="wide"/>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titleStyle/>
    <p:bodyStyle/>
    <p:otherStyle/>
  </p:txStyles>
</p:sldMaster>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PROJECT FLOW</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Smart Health 360 Project Flow</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Patient entry, doctor consultation, records, VIS_A / VIS_B visibility, audit handling, waiting room, offline payment, and future trusted-person operations.</a:t>
            </a:r>
          </a:p>
        </p:txBody>
      </p:sp>
      <p:sp>
        <p:nvSpPr>
          <p:cNvPr id="6" name="TextBox 6"/>
          <p:cNvSpPr txBox="1"/>
          <p:nvPr/>
        </p:nvSpPr>
        <p:spPr>
          <a:xfrm>
            <a:off x="502920" y="2148840"/>
            <a:ext cx="1115568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Core Idea</a:t>
            </a:r>
          </a:p>
          <a:p>
            <a:r>
              <a:rPr lang="en-US" sz="1200">
                <a:solidFill>
                  <a:srgbClr val="17202A"/>
                </a:solidFill>
              </a:rPr>
              <a:t xml:space="preserve">- Digital hospital workflow</a:t>
            </a:r>
          </a:p>
          <a:p>
            <a:r>
              <a:rPr lang="en-US" sz="1200">
                <a:solidFill>
                  <a:srgbClr val="17202A"/>
                </a:solidFill>
              </a:rPr>
              <a:t xml:space="preserve">- Medical history in one place</a:t>
            </a:r>
          </a:p>
          <a:p>
            <a:r>
              <a:rPr lang="en-US" sz="1200">
                <a:solidFill>
                  <a:srgbClr val="17202A"/>
                </a:solidFill>
              </a:rPr>
              <a:t xml:space="preserve">- Controlled incognito records</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Smart Health 360 - Project Flow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OVERVIEW</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What The Application Does</a:t>
            </a:r>
          </a:p>
        </p:txBody>
      </p:sp>
      <p:sp>
        <p:nvSpPr>
          <p:cNvPr id="5" name="TextBox 5"/>
          <p:cNvSpPr txBox="1"/>
          <p:nvPr/>
        </p:nvSpPr>
        <p:spPr>
          <a:xfrm>
            <a:off x="502920" y="1783080"/>
            <a:ext cx="356616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Reception</a:t>
            </a:r>
          </a:p>
          <a:p>
            <a:r>
              <a:rPr lang="en-US" sz="1200">
                <a:solidFill>
                  <a:srgbClr val="17202A"/>
                </a:solidFill>
              </a:rPr>
              <a:t xml:space="preserve">- Registers or searches patient</a:t>
            </a:r>
          </a:p>
          <a:p>
            <a:r>
              <a:rPr lang="en-US" sz="1200">
                <a:solidFill>
                  <a:srgbClr val="17202A"/>
                </a:solidFill>
              </a:rPr>
              <a:t xml:space="preserve">- Assigns doctor</a:t>
            </a:r>
          </a:p>
          <a:p>
            <a:r>
              <a:rPr lang="en-US" sz="1200">
                <a:solidFill>
                  <a:srgbClr val="17202A"/>
                </a:solidFill>
              </a:rPr>
              <a:t xml:space="preserve">- Supports waiting-room flow</a:t>
            </a:r>
          </a:p>
        </p:txBody>
      </p:sp>
      <p:sp>
        <p:nvSpPr>
          <p:cNvPr id="6" name="TextBox 6"/>
          <p:cNvSpPr txBox="1"/>
          <p:nvPr/>
        </p:nvSpPr>
        <p:spPr>
          <a:xfrm>
            <a:off x="4297680" y="1783080"/>
            <a:ext cx="356616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Doctor</a:t>
            </a:r>
          </a:p>
          <a:p>
            <a:r>
              <a:rPr lang="en-US" sz="1200">
                <a:solidFill>
                  <a:srgbClr val="17202A"/>
                </a:solidFill>
              </a:rPr>
              <a:t xml:space="preserve">- Sees assigned patients</a:t>
            </a:r>
          </a:p>
          <a:p>
            <a:r>
              <a:rPr lang="en-US" sz="1200">
                <a:solidFill>
                  <a:srgbClr val="17202A"/>
                </a:solidFill>
              </a:rPr>
              <a:t xml:space="preserve">- Opens history before consultation</a:t>
            </a:r>
          </a:p>
          <a:p>
            <a:r>
              <a:rPr lang="en-US" sz="1200">
                <a:solidFill>
                  <a:srgbClr val="17202A"/>
                </a:solidFill>
              </a:rPr>
              <a:t xml:space="preserve">- Adds diagnosis and prescription</a:t>
            </a:r>
          </a:p>
        </p:txBody>
      </p:sp>
      <p:sp>
        <p:nvSpPr>
          <p:cNvPr id="7" name="TextBox 7"/>
          <p:cNvSpPr txBox="1"/>
          <p:nvPr/>
        </p:nvSpPr>
        <p:spPr>
          <a:xfrm>
            <a:off x="8092440" y="1783080"/>
            <a:ext cx="3566160" cy="3383280"/>
          </a:xfrm>
          <a:prstGeom prst="roundRect">
            <a:avLst/>
          </a:prstGeom>
          <a:solidFill>
            <a:srgbClr val="FFFBEB"/>
          </a:solidFill>
          <a:ln w="9525">
            <a:solidFill>
              <a:srgbClr val="D9E2EC"/>
            </a:solidFill>
          </a:ln>
        </p:spPr>
        <p:txBody>
          <a:bodyPr wrap="square" anchor="t" lIns="152400" tIns="114300" rIns="152400" bIns="114300"/>
          <a:lstStyle/>
          <a:p>
            <a:r>
              <a:rPr lang="en-US" sz="1400" b="1">
                <a:solidFill>
                  <a:srgbClr val="17202A"/>
                </a:solidFill>
              </a:rPr>
              <a:t xml:space="preserve">Visibility</a:t>
            </a:r>
          </a:p>
          <a:p>
            <a:r>
              <a:rPr lang="en-US" sz="1200">
                <a:solidFill>
                  <a:srgbClr val="17202A"/>
                </a:solidFill>
              </a:rPr>
              <a:t xml:space="preserve">- Records saved as VIS_A or VIS_B</a:t>
            </a:r>
          </a:p>
          <a:p>
            <a:r>
              <a:rPr lang="en-US" sz="1200">
                <a:solidFill>
                  <a:srgbClr val="17202A"/>
                </a:solidFill>
              </a:rPr>
              <a:t xml:space="preserve">- VIS_B can be hidden during audit</a:t>
            </a:r>
          </a:p>
          <a:p>
            <a:r>
              <a:rPr lang="en-US" sz="1200">
                <a:solidFill>
                  <a:srgbClr val="17202A"/>
                </a:solidFill>
              </a:rPr>
              <a:t xml:space="preserve">- Audit log tracks important actions</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One-line project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USERS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Main Users And Responsibilities</a:t>
            </a:r>
          </a:p>
        </p:txBody>
      </p:sp>
      <p:sp>
        <p:nvSpPr>
          <p:cNvPr id="5" name="TextBox 5"/>
          <p:cNvSpPr txBox="1"/>
          <p:nvPr/>
        </p:nvSpPr>
        <p:spPr>
          <a:xfrm>
            <a:off x="502920" y="1783080"/>
            <a:ext cx="356616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Super Admin</a:t>
            </a:r>
          </a:p>
          <a:p>
            <a:r>
              <a:rPr lang="en-US" sz="1200">
                <a:solidFill>
                  <a:srgbClr val="17202A"/>
                </a:solidFill>
              </a:rPr>
              <a:t xml:space="preserve">- Controls users, clinics, audit, permissions</a:t>
            </a:r>
          </a:p>
          <a:p>
            <a:r>
              <a:rPr lang="en-US" sz="1200">
                <a:solidFill>
                  <a:srgbClr val="17202A"/>
                </a:solidFill>
              </a:rPr>
              <a:t xml:space="preserve">- Creates doctors and receptionists</a:t>
            </a:r>
          </a:p>
          <a:p>
            <a:r>
              <a:rPr lang="en-US" sz="1200">
                <a:solidFill>
                  <a:srgbClr val="17202A"/>
                </a:solidFill>
              </a:rPr>
              <a:t xml:space="preserve">- Controls emergency hide/restore</a:t>
            </a:r>
          </a:p>
        </p:txBody>
      </p:sp>
      <p:sp>
        <p:nvSpPr>
          <p:cNvPr id="6" name="TextBox 6"/>
          <p:cNvSpPr txBox="1"/>
          <p:nvPr/>
        </p:nvSpPr>
        <p:spPr>
          <a:xfrm>
            <a:off x="4297680" y="1783080"/>
            <a:ext cx="3566160" cy="3383280"/>
          </a:xfrm>
          <a:prstGeom prst="roundRect">
            <a:avLst/>
          </a:prstGeom>
          <a:solidFill>
            <a:srgbClr val="DBEAFE"/>
          </a:solidFill>
          <a:ln w="9525">
            <a:solidFill>
              <a:srgbClr val="D9E2EC"/>
            </a:solidFill>
          </a:ln>
        </p:spPr>
        <p:txBody>
          <a:bodyPr wrap="square" anchor="t" lIns="152400" tIns="114300" rIns="152400" bIns="114300"/>
          <a:lstStyle/>
          <a:p>
            <a:r>
              <a:rPr lang="en-US" sz="1400" b="1">
                <a:solidFill>
                  <a:srgbClr val="17202A"/>
                </a:solidFill>
              </a:rPr>
              <a:t xml:space="preserve">Doctor</a:t>
            </a:r>
          </a:p>
          <a:p>
            <a:r>
              <a:rPr lang="en-US" sz="1200">
                <a:solidFill>
                  <a:srgbClr val="17202A"/>
                </a:solidFill>
              </a:rPr>
              <a:t xml:space="preserve">- Sees assigned patients</a:t>
            </a:r>
          </a:p>
          <a:p>
            <a:r>
              <a:rPr lang="en-US" sz="1200">
                <a:solidFill>
                  <a:srgbClr val="17202A"/>
                </a:solidFill>
              </a:rPr>
              <a:t xml:space="preserve">- Checks history and prescriptions</a:t>
            </a:r>
          </a:p>
          <a:p>
            <a:r>
              <a:rPr lang="en-US" sz="1200">
                <a:solidFill>
                  <a:srgbClr val="17202A"/>
                </a:solidFill>
              </a:rPr>
              <a:t xml:space="preserve">- Adds diagnosis, advice, and follow-up</a:t>
            </a:r>
          </a:p>
        </p:txBody>
      </p:sp>
      <p:sp>
        <p:nvSpPr>
          <p:cNvPr id="7" name="TextBox 7"/>
          <p:cNvSpPr txBox="1"/>
          <p:nvPr/>
        </p:nvSpPr>
        <p:spPr>
          <a:xfrm>
            <a:off x="8092440" y="1783080"/>
            <a:ext cx="3566160" cy="3383280"/>
          </a:xfrm>
          <a:prstGeom prst="roundRect">
            <a:avLst/>
          </a:prstGeom>
          <a:solidFill>
            <a:srgbClr val="D1FAE5"/>
          </a:solidFill>
          <a:ln w="9525">
            <a:solidFill>
              <a:srgbClr val="D9E2EC"/>
            </a:solidFill>
          </a:ln>
        </p:spPr>
        <p:txBody>
          <a:bodyPr wrap="square" anchor="t" lIns="152400" tIns="114300" rIns="152400" bIns="114300"/>
          <a:lstStyle/>
          <a:p>
            <a:r>
              <a:rPr lang="en-US" sz="1400" b="1">
                <a:solidFill>
                  <a:srgbClr val="17202A"/>
                </a:solidFill>
              </a:rPr>
              <a:t xml:space="preserve">Receptionist</a:t>
            </a:r>
          </a:p>
          <a:p>
            <a:r>
              <a:rPr lang="en-US" sz="1200">
                <a:solidFill>
                  <a:srgbClr val="17202A"/>
                </a:solidFill>
              </a:rPr>
              <a:t xml:space="preserve">- Registers patients</a:t>
            </a:r>
          </a:p>
          <a:p>
            <a:r>
              <a:rPr lang="en-US" sz="1200">
                <a:solidFill>
                  <a:srgbClr val="17202A"/>
                </a:solidFill>
              </a:rPr>
              <a:t xml:space="preserve">- Assigns doctor</a:t>
            </a:r>
          </a:p>
          <a:p>
            <a:r>
              <a:rPr lang="en-US" sz="1200">
                <a:solidFill>
                  <a:srgbClr val="17202A"/>
                </a:solidFill>
              </a:rPr>
              <a:t xml:space="preserve">- Maintains basic patient information</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Main actors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REAL-WORLD STORY</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Ramesh Kumar Walks Into The Hospital</a:t>
            </a:r>
          </a:p>
        </p:txBody>
      </p:sp>
      <p:sp>
        <p:nvSpPr>
          <p:cNvPr id="5" name="TextBox 5"/>
          <p:cNvSpPr txBox="1"/>
          <p:nvPr/>
        </p:nvSpPr>
        <p:spPr>
          <a:xfrm>
            <a:off x="685800" y="1783080"/>
            <a:ext cx="10789920" cy="3474720"/>
          </a:xfrm>
          <a:prstGeom prst="roundRect">
            <a:avLst/>
          </a:prstGeom>
          <a:solidFill>
            <a:srgbClr val="F8FAFC"/>
          </a:solidFill>
          <a:ln w="9525">
            <a:solidFill>
              <a:srgbClr val="D9E2EC"/>
            </a:solidFill>
          </a:ln>
        </p:spPr>
        <p:txBody>
          <a:bodyPr wrap="square" anchor="t" lIns="152400" tIns="114300" rIns="152400" bIns="114300"/>
          <a:lstStyle/>
          <a:p>
            <a:r>
              <a:rPr lang="en-US" sz="2000" b="1">
                <a:solidFill>
                  <a:srgbClr val="334155"/>
                </a:solidFill>
              </a:rPr>
              <a:t xml:space="preserve">1. Ramesh reaches reception.</a:t>
            </a:r>
          </a:p>
          <a:p>
            <a:r>
              <a:rPr lang="en-US" sz="1800">
                <a:solidFill>
                  <a:srgbClr val="334155"/>
                </a:solidFill>
              </a:rPr>
              <a:t xml:space="preserve">2. Receptionist registers him or searches existing profile.</a:t>
            </a:r>
          </a:p>
          <a:p>
            <a:r>
              <a:rPr lang="en-US" sz="1800">
                <a:solidFill>
                  <a:srgbClr val="334155"/>
                </a:solidFill>
              </a:rPr>
              <a:t xml:space="preserve">3. Receptionist assigns Dr. Arjun.</a:t>
            </a:r>
          </a:p>
          <a:p>
            <a:r>
              <a:rPr lang="en-US" sz="1800">
                <a:solidFill>
                  <a:srgbClr val="334155"/>
                </a:solidFill>
              </a:rPr>
              <a:t xml:space="preserve">4. Ramesh appears in the doctor's patient list or waiting-room screen.</a:t>
            </a:r>
          </a:p>
          <a:p>
            <a:r>
              <a:rPr lang="en-US" sz="1800">
                <a:solidFill>
                  <a:srgbClr val="334155"/>
                </a:solidFill>
              </a:rPr>
              <a:t xml:space="preserve">5. Doctor opens profile and sees details, previous visits, diagnosis history, prescriptions, medicines, X-ray/lab attachments, and notes.</a:t>
            </a:r>
          </a:p>
          <a:p>
            <a:r>
              <a:rPr lang="en-US" sz="1800">
                <a:solidFill>
                  <a:srgbClr val="334155"/>
                </a:solidFill>
              </a:rPr>
              <a:t xml:space="preserve">6. Doctor saves the medical record or prescription as VIS_A or VIS_B.</a:t>
            </a:r>
          </a:p>
          <a:p>
            <a:r>
              <a:rPr lang="en-US" sz="1800">
                <a:solidFill>
                  <a:srgbClr val="334155"/>
                </a:solidFill>
              </a:rPr>
              <a:t xml:space="preserve">7. Later, authorized users can change VIS_A to VIS_B or VIS_B to VIS_A.</a:t>
            </a:r>
          </a:p>
        </p:txBody>
      </p:sp>
      <p:sp>
        <p:nvSpPr>
          <p:cNvPr id="6" name="TextBox 6"/>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Simple real-world story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RECORD VISIBILITY</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VIS_A And VIS_B</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In discussions these may be described as normal/incognito records. In the application and project documentation, the terms are VIS_A and VIS_B.</a:t>
            </a:r>
          </a:p>
        </p:txBody>
      </p:sp>
      <p:sp>
        <p:nvSpPr>
          <p:cNvPr id="6" name="TextBox 6"/>
          <p:cNvSpPr txBox="1"/>
          <p:nvPr/>
        </p:nvSpPr>
        <p:spPr>
          <a:xfrm>
            <a:off x="502920" y="2148840"/>
            <a:ext cx="5463540" cy="3383280"/>
          </a:xfrm>
          <a:prstGeom prst="roundRect">
            <a:avLst/>
          </a:prstGeom>
          <a:solidFill>
            <a:srgbClr val="DCFCE7"/>
          </a:solidFill>
          <a:ln w="9525">
            <a:solidFill>
              <a:srgbClr val="D9E2EC"/>
            </a:solidFill>
          </a:ln>
        </p:spPr>
        <p:txBody>
          <a:bodyPr wrap="square" anchor="t" lIns="152400" tIns="114300" rIns="152400" bIns="114300"/>
          <a:lstStyle/>
          <a:p>
            <a:r>
              <a:rPr lang="en-US" sz="1400" b="1">
                <a:solidFill>
                  <a:srgbClr val="17202A"/>
                </a:solidFill>
              </a:rPr>
              <a:t xml:space="preserve">VIS_A</a:t>
            </a:r>
          </a:p>
          <a:p>
            <a:r>
              <a:rPr lang="en-US" sz="1200">
                <a:solidFill>
                  <a:srgbClr val="17202A"/>
                </a:solidFill>
              </a:rPr>
              <a:t xml:space="preserve">- Normal visible record</a:t>
            </a:r>
          </a:p>
          <a:p>
            <a:r>
              <a:rPr lang="en-US" sz="1200">
                <a:solidFill>
                  <a:srgbClr val="17202A"/>
                </a:solidFill>
              </a:rPr>
              <a:t xml:space="preserve">- Regular hospital workflow</a:t>
            </a:r>
          </a:p>
          <a:p>
            <a:r>
              <a:rPr lang="en-US" sz="1200">
                <a:solidFill>
                  <a:srgbClr val="17202A"/>
                </a:solidFill>
              </a:rPr>
              <a:t xml:space="preserve">- Normal exports based on role</a:t>
            </a:r>
          </a:p>
          <a:p>
            <a:r>
              <a:rPr lang="en-US" sz="1200">
                <a:solidFill>
                  <a:srgbClr val="17202A"/>
                </a:solidFill>
              </a:rPr>
              <a:t xml:space="preserve">- Suitable for regular outpatient history</a:t>
            </a:r>
          </a:p>
        </p:txBody>
      </p:sp>
      <p:sp>
        <p:nvSpPr>
          <p:cNvPr id="7" name="TextBox 7"/>
          <p:cNvSpPr txBox="1"/>
          <p:nvPr/>
        </p:nvSpPr>
        <p:spPr>
          <a:xfrm>
            <a:off x="6195059" y="2148840"/>
            <a:ext cx="546354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VIS_B</a:t>
            </a:r>
          </a:p>
          <a:p>
            <a:r>
              <a:rPr lang="en-US" sz="1200">
                <a:solidFill>
                  <a:srgbClr val="17202A"/>
                </a:solidFill>
              </a:rPr>
              <a:t xml:space="preserve">- Incognito/sensitive record</a:t>
            </a:r>
          </a:p>
          <a:p>
            <a:r>
              <a:rPr lang="en-US" sz="1200">
                <a:solidFill>
                  <a:srgbClr val="17202A"/>
                </a:solidFill>
              </a:rPr>
              <a:t xml:space="preserve">- Controlled access</a:t>
            </a:r>
          </a:p>
          <a:p>
            <a:r>
              <a:rPr lang="en-US" sz="1200">
                <a:solidFill>
                  <a:srgbClr val="17202A"/>
                </a:solidFill>
              </a:rPr>
              <a:t xml:space="preserve">- Can be hidden during audit mode</a:t>
            </a:r>
          </a:p>
          <a:p>
            <a:r>
              <a:rPr lang="en-US" sz="1200">
                <a:solidFill>
                  <a:srgbClr val="17202A"/>
                </a:solidFill>
              </a:rPr>
              <a:t xml:space="preserve">- Protected from normal export</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Visibility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NORMAL RECORD</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VIS_A Real Example</a:t>
            </a:r>
          </a:p>
        </p:txBody>
      </p:sp>
      <p:sp>
        <p:nvSpPr>
          <p:cNvPr id="5" name="TextBox 5"/>
          <p:cNvSpPr txBox="1"/>
          <p:nvPr/>
        </p:nvSpPr>
        <p:spPr>
          <a:xfrm>
            <a:off x="502920" y="1783080"/>
            <a:ext cx="5463540" cy="3383280"/>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Patient</a:t>
            </a:r>
          </a:p>
          <a:p>
            <a:r>
              <a:rPr lang="en-US" sz="1200">
                <a:solidFill>
                  <a:srgbClr val="17202A"/>
                </a:solidFill>
              </a:rPr>
              <a:t xml:space="preserve">- Ramesh Kumar</a:t>
            </a:r>
          </a:p>
          <a:p>
            <a:r>
              <a:rPr lang="en-US" sz="1200">
                <a:solidFill>
                  <a:srgbClr val="17202A"/>
                </a:solidFill>
              </a:rPr>
              <a:t xml:space="preserve">- Visit reason: fever and cough</a:t>
            </a:r>
          </a:p>
          <a:p>
            <a:r>
              <a:rPr lang="en-US" sz="1200">
                <a:solidFill>
                  <a:srgbClr val="17202A"/>
                </a:solidFill>
              </a:rPr>
              <a:t xml:space="preserve">- Doctor: Dr. Arjun</a:t>
            </a:r>
          </a:p>
          <a:p>
            <a:r>
              <a:rPr lang="en-US" sz="1200">
                <a:solidFill>
                  <a:srgbClr val="17202A"/>
                </a:solidFill>
              </a:rPr>
              <a:t xml:space="preserve">- Status: VIS_A</a:t>
            </a:r>
          </a:p>
        </p:txBody>
      </p:sp>
      <p:sp>
        <p:nvSpPr>
          <p:cNvPr id="6" name="TextBox 6"/>
          <p:cNvSpPr txBox="1"/>
          <p:nvPr/>
        </p:nvSpPr>
        <p:spPr>
          <a:xfrm>
            <a:off x="6195059" y="1783080"/>
            <a:ext cx="5463540" cy="3383280"/>
          </a:xfrm>
          <a:prstGeom prst="roundRect">
            <a:avLst/>
          </a:prstGeom>
          <a:solidFill>
            <a:srgbClr val="DCFCE7"/>
          </a:solidFill>
          <a:ln w="9525">
            <a:solidFill>
              <a:srgbClr val="D9E2EC"/>
            </a:solidFill>
          </a:ln>
        </p:spPr>
        <p:txBody>
          <a:bodyPr wrap="square" anchor="t" lIns="152400" tIns="114300" rIns="152400" bIns="114300"/>
          <a:lstStyle/>
          <a:p>
            <a:r>
              <a:rPr lang="en-US" sz="1400" b="1">
                <a:solidFill>
                  <a:srgbClr val="17202A"/>
                </a:solidFill>
              </a:rPr>
              <a:t xml:space="preserve">Meaning</a:t>
            </a:r>
          </a:p>
          <a:p>
            <a:r>
              <a:rPr lang="en-US" sz="1200">
                <a:solidFill>
                  <a:srgbClr val="17202A"/>
                </a:solidFill>
              </a:rPr>
              <a:t xml:space="preserve">- Normal hospital record</a:t>
            </a:r>
          </a:p>
          <a:p>
            <a:r>
              <a:rPr lang="en-US" sz="1200">
                <a:solidFill>
                  <a:srgbClr val="17202A"/>
                </a:solidFill>
              </a:rPr>
              <a:t xml:space="preserve">- Doctor can see it</a:t>
            </a:r>
          </a:p>
          <a:p>
            <a:r>
              <a:rPr lang="en-US" sz="1200">
                <a:solidFill>
                  <a:srgbClr val="17202A"/>
                </a:solidFill>
              </a:rPr>
              <a:t xml:space="preserve">- Reception can see it based on permission</a:t>
            </a:r>
          </a:p>
          <a:p>
            <a:r>
              <a:rPr lang="en-US" sz="1200">
                <a:solidFill>
                  <a:srgbClr val="17202A"/>
                </a:solidFill>
              </a:rPr>
              <a:t xml:space="preserve">- Can be included in standard patient history and exports</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VIS_A example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INCOGNITO RECORD</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VIS_B Real Example</a:t>
            </a:r>
          </a:p>
        </p:txBody>
      </p:sp>
      <p:sp>
        <p:nvSpPr>
          <p:cNvPr id="5" name="TextBox 5"/>
          <p:cNvSpPr txBox="1"/>
          <p:nvPr/>
        </p:nvSpPr>
        <p:spPr>
          <a:xfrm>
            <a:off x="502920" y="1783080"/>
            <a:ext cx="5463540" cy="3383280"/>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Patient</a:t>
            </a:r>
          </a:p>
          <a:p>
            <a:r>
              <a:rPr lang="en-US" sz="1200">
                <a:solidFill>
                  <a:srgbClr val="17202A"/>
                </a:solidFill>
              </a:rPr>
              <a:t xml:space="preserve">- Suresh Reddy</a:t>
            </a:r>
          </a:p>
          <a:p>
            <a:r>
              <a:rPr lang="en-US" sz="1200">
                <a:solidFill>
                  <a:srgbClr val="17202A"/>
                </a:solidFill>
              </a:rPr>
              <a:t xml:space="preserve">- Visit reason: sensitive internal consultation</a:t>
            </a:r>
          </a:p>
          <a:p>
            <a:r>
              <a:rPr lang="en-US" sz="1200">
                <a:solidFill>
                  <a:srgbClr val="17202A"/>
                </a:solidFill>
              </a:rPr>
              <a:t xml:space="preserve">- Doctor: Dr. Arjun</a:t>
            </a:r>
          </a:p>
          <a:p>
            <a:r>
              <a:rPr lang="en-US" sz="1200">
                <a:solidFill>
                  <a:srgbClr val="17202A"/>
                </a:solidFill>
              </a:rPr>
              <a:t xml:space="preserve">- Status: VIS_B</a:t>
            </a:r>
          </a:p>
        </p:txBody>
      </p:sp>
      <p:sp>
        <p:nvSpPr>
          <p:cNvPr id="6" name="TextBox 6"/>
          <p:cNvSpPr txBox="1"/>
          <p:nvPr/>
        </p:nvSpPr>
        <p:spPr>
          <a:xfrm>
            <a:off x="6195059" y="1783080"/>
            <a:ext cx="546354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Meaning</a:t>
            </a:r>
          </a:p>
          <a:p>
            <a:r>
              <a:rPr lang="en-US" sz="1200">
                <a:solidFill>
                  <a:srgbClr val="17202A"/>
                </a:solidFill>
              </a:rPr>
              <a:t xml:space="preserve">- Stored but treated as sensitive</a:t>
            </a:r>
          </a:p>
          <a:p>
            <a:r>
              <a:rPr lang="en-US" sz="1200">
                <a:solidFill>
                  <a:srgbClr val="17202A"/>
                </a:solidFill>
              </a:rPr>
              <a:t xml:space="preserve">- Authorized doctors/admins can see it in normal mode</a:t>
            </a:r>
          </a:p>
          <a:p>
            <a:r>
              <a:rPr lang="en-US" sz="1200">
                <a:solidFill>
                  <a:srgbClr val="17202A"/>
                </a:solidFill>
              </a:rPr>
              <a:t xml:space="preserve">- Can be hidden from normal screens and exports during inspection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VIS_B example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VISIBILITY LIFECYCLE</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Changing VIS_A To VIS_B And Back</a:t>
            </a:r>
          </a:p>
        </p:txBody>
      </p:sp>
      <p:sp>
        <p:nvSpPr>
          <p:cNvPr id="5" name="TextBox 5"/>
          <p:cNvSpPr txBox="1"/>
          <p:nvPr/>
        </p:nvSpPr>
        <p:spPr>
          <a:xfrm>
            <a:off x="502920" y="1783080"/>
            <a:ext cx="356616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Normal To Incognito</a:t>
            </a:r>
          </a:p>
          <a:p>
            <a:r>
              <a:rPr lang="en-US" sz="1200">
                <a:solidFill>
                  <a:srgbClr val="17202A"/>
                </a:solidFill>
              </a:rPr>
              <a:t xml:space="preserve">- Ramesh starts as VIS_A</a:t>
            </a:r>
          </a:p>
          <a:p>
            <a:r>
              <a:rPr lang="en-US" sz="1200">
                <a:solidFill>
                  <a:srgbClr val="17202A"/>
                </a:solidFill>
              </a:rPr>
              <a:t xml:space="preserve">- Hospital later decides record should be incognito</a:t>
            </a:r>
          </a:p>
          <a:p>
            <a:r>
              <a:rPr lang="en-US" sz="1200">
                <a:solidFill>
                  <a:srgbClr val="17202A"/>
                </a:solidFill>
              </a:rPr>
              <a:t xml:space="preserve">- Authorized user changes VIS_A to VIS_B</a:t>
            </a:r>
          </a:p>
        </p:txBody>
      </p:sp>
      <p:sp>
        <p:nvSpPr>
          <p:cNvPr id="6" name="TextBox 6"/>
          <p:cNvSpPr txBox="1"/>
          <p:nvPr/>
        </p:nvSpPr>
        <p:spPr>
          <a:xfrm>
            <a:off x="4297680" y="1783080"/>
            <a:ext cx="356616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Incognito To Normal</a:t>
            </a:r>
          </a:p>
          <a:p>
            <a:r>
              <a:rPr lang="en-US" sz="1200">
                <a:solidFill>
                  <a:srgbClr val="17202A"/>
                </a:solidFill>
              </a:rPr>
              <a:t xml:space="preserve">- Suresh starts as VIS_B</a:t>
            </a:r>
          </a:p>
          <a:p>
            <a:r>
              <a:rPr lang="en-US" sz="1200">
                <a:solidFill>
                  <a:srgbClr val="17202A"/>
                </a:solidFill>
              </a:rPr>
              <a:t xml:space="preserve">- Hospital later decides it can be normal history</a:t>
            </a:r>
          </a:p>
          <a:p>
            <a:r>
              <a:rPr lang="en-US" sz="1200">
                <a:solidFill>
                  <a:srgbClr val="17202A"/>
                </a:solidFill>
              </a:rPr>
              <a:t xml:space="preserve">- Authorized user changes VIS_B to VIS_A</a:t>
            </a:r>
          </a:p>
        </p:txBody>
      </p:sp>
      <p:sp>
        <p:nvSpPr>
          <p:cNvPr id="7" name="TextBox 7"/>
          <p:cNvSpPr txBox="1"/>
          <p:nvPr/>
        </p:nvSpPr>
        <p:spPr>
          <a:xfrm>
            <a:off x="8092440" y="1783080"/>
            <a:ext cx="3566160" cy="3383280"/>
          </a:xfrm>
          <a:prstGeom prst="roundRect">
            <a:avLst/>
          </a:prstGeom>
          <a:solidFill>
            <a:srgbClr val="FFFBEB"/>
          </a:solidFill>
          <a:ln w="9525">
            <a:solidFill>
              <a:srgbClr val="D9E2EC"/>
            </a:solidFill>
          </a:ln>
        </p:spPr>
        <p:txBody>
          <a:bodyPr wrap="square" anchor="t" lIns="152400" tIns="114300" rIns="152400" bIns="114300"/>
          <a:lstStyle/>
          <a:p>
            <a:r>
              <a:rPr lang="en-US" sz="1400" b="1">
                <a:solidFill>
                  <a:srgbClr val="17202A"/>
                </a:solidFill>
              </a:rPr>
              <a:t xml:space="preserve">Why It Matters</a:t>
            </a:r>
          </a:p>
          <a:p>
            <a:r>
              <a:rPr lang="en-US" sz="1200">
                <a:solidFill>
                  <a:srgbClr val="17202A"/>
                </a:solidFill>
              </a:rPr>
              <a:t xml:space="preserve">- Final visibility may be decided later</a:t>
            </a:r>
          </a:p>
          <a:p>
            <a:r>
              <a:rPr lang="en-US" sz="1200">
                <a:solidFill>
                  <a:srgbClr val="17202A"/>
                </a:solidFill>
              </a:rPr>
              <a:t xml:space="preserve">- System supports controlled movement</a:t>
            </a:r>
          </a:p>
          <a:p>
            <a:r>
              <a:rPr lang="en-US" sz="1200">
                <a:solidFill>
                  <a:srgbClr val="17202A"/>
                </a:solidFill>
              </a:rPr>
              <a:t xml:space="preserve">- Audit tracking records the change</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Visibility changes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FLOW</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Complete Start-To-End Flow</a:t>
            </a:r>
          </a:p>
        </p:txBody>
      </p:sp>
      <p:sp>
        <p:nvSpPr>
          <p:cNvPr id="5" name="TextBox 5"/>
          <p:cNvSpPr txBox="1"/>
          <p:nvPr/>
        </p:nvSpPr>
        <p:spPr>
          <a:xfrm>
            <a:off x="685800" y="1783080"/>
            <a:ext cx="10789920" cy="3474720"/>
          </a:xfrm>
          <a:prstGeom prst="roundRect">
            <a:avLst/>
          </a:prstGeom>
          <a:solidFill>
            <a:srgbClr val="F8FAFC"/>
          </a:solidFill>
          <a:ln w="9525">
            <a:solidFill>
              <a:srgbClr val="D9E2EC"/>
            </a:solidFill>
          </a:ln>
        </p:spPr>
        <p:txBody>
          <a:bodyPr wrap="square" anchor="t" lIns="152400" tIns="114300" rIns="152400" bIns="114300"/>
          <a:lstStyle/>
          <a:p>
            <a:r>
              <a:rPr lang="en-US" sz="2000" b="1">
                <a:solidFill>
                  <a:srgbClr val="334155"/>
                </a:solidFill>
              </a:rPr>
              <a:t xml:space="preserve">Patient arrives -&gt; Reception searches or creates patient -&gt; Reception assigns doctor -&gt; Patient appears in doctor's workflow/waiting list -&gt; Doctor opens patient details -&gt; Doctor checks records, medicines, prescriptions, and reports -&gt; Doctor consults patient -&gt; Record/prescription/attachment is saved -&gt; Record is marked VIS_A or VIS_B -&gt; Hospital continues treatment history -&gt; VIS_B can be hidden during audit -&gt; VIS_B can be restored after audit.</a:t>
            </a:r>
          </a:p>
        </p:txBody>
      </p:sp>
      <p:sp>
        <p:nvSpPr>
          <p:cNvPr id="6" name="TextBox 6"/>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Complete project flow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ROLES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Role-Based Flow Tree</a:t>
            </a:r>
          </a:p>
        </p:txBody>
      </p:sp>
      <p:sp>
        <p:nvSpPr>
          <p:cNvPr id="5" name="TextBox 5"/>
          <p:cNvSpPr txBox="1"/>
          <p:nvPr/>
        </p:nvSpPr>
        <p:spPr>
          <a:xfrm>
            <a:off x="502920" y="1783080"/>
            <a:ext cx="356616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Super Admin</a:t>
            </a:r>
          </a:p>
          <a:p>
            <a:r>
              <a:rPr lang="en-US" sz="1200">
                <a:solidFill>
                  <a:srgbClr val="17202A"/>
                </a:solidFill>
              </a:rPr>
              <a:t xml:space="preserve">- Creates doctors and receptionists</a:t>
            </a:r>
          </a:p>
          <a:p>
            <a:r>
              <a:rPr lang="en-US" sz="1200">
                <a:solidFill>
                  <a:srgbClr val="17202A"/>
                </a:solidFill>
              </a:rPr>
              <a:t xml:space="preserve">- Manages clinics/areas/hierarchy</a:t>
            </a:r>
          </a:p>
          <a:p>
            <a:r>
              <a:rPr lang="en-US" sz="1200">
                <a:solidFill>
                  <a:srgbClr val="17202A"/>
                </a:solidFill>
              </a:rPr>
              <a:t xml:space="preserve">- Views audit logs</a:t>
            </a:r>
          </a:p>
          <a:p>
            <a:r>
              <a:rPr lang="en-US" sz="1200">
                <a:solidFill>
                  <a:srgbClr val="17202A"/>
                </a:solidFill>
              </a:rPr>
              <a:t xml:space="preserve">- Controls emergency hide/restore</a:t>
            </a:r>
          </a:p>
        </p:txBody>
      </p:sp>
      <p:sp>
        <p:nvSpPr>
          <p:cNvPr id="6" name="TextBox 6"/>
          <p:cNvSpPr txBox="1"/>
          <p:nvPr/>
        </p:nvSpPr>
        <p:spPr>
          <a:xfrm>
            <a:off x="4297680" y="1783080"/>
            <a:ext cx="3566160" cy="3383280"/>
          </a:xfrm>
          <a:prstGeom prst="roundRect">
            <a:avLst/>
          </a:prstGeom>
          <a:solidFill>
            <a:srgbClr val="D1FAE5"/>
          </a:solidFill>
          <a:ln w="9525">
            <a:solidFill>
              <a:srgbClr val="D9E2EC"/>
            </a:solidFill>
          </a:ln>
        </p:spPr>
        <p:txBody>
          <a:bodyPr wrap="square" anchor="t" lIns="152400" tIns="114300" rIns="152400" bIns="114300"/>
          <a:lstStyle/>
          <a:p>
            <a:r>
              <a:rPr lang="en-US" sz="1400" b="1">
                <a:solidFill>
                  <a:srgbClr val="17202A"/>
                </a:solidFill>
              </a:rPr>
              <a:t xml:space="preserve">Receptionist</a:t>
            </a:r>
          </a:p>
          <a:p>
            <a:r>
              <a:rPr lang="en-US" sz="1200">
                <a:solidFill>
                  <a:srgbClr val="17202A"/>
                </a:solidFill>
              </a:rPr>
              <a:t xml:space="preserve">- Registers patient</a:t>
            </a:r>
          </a:p>
          <a:p>
            <a:r>
              <a:rPr lang="en-US" sz="1200">
                <a:solidFill>
                  <a:srgbClr val="17202A"/>
                </a:solidFill>
              </a:rPr>
              <a:t xml:space="preserve">- Assigns doctor</a:t>
            </a:r>
          </a:p>
          <a:p>
            <a:r>
              <a:rPr lang="en-US" sz="1200">
                <a:solidFill>
                  <a:srgbClr val="17202A"/>
                </a:solidFill>
              </a:rPr>
              <a:t xml:space="preserve">- Updates patient details</a:t>
            </a:r>
          </a:p>
          <a:p>
            <a:r>
              <a:rPr lang="en-US" sz="1200">
                <a:solidFill>
                  <a:srgbClr val="17202A"/>
                </a:solidFill>
              </a:rPr>
              <a:t xml:space="preserve">- Adds visit support and attachments where allowed</a:t>
            </a:r>
          </a:p>
        </p:txBody>
      </p:sp>
      <p:sp>
        <p:nvSpPr>
          <p:cNvPr id="7" name="TextBox 7"/>
          <p:cNvSpPr txBox="1"/>
          <p:nvPr/>
        </p:nvSpPr>
        <p:spPr>
          <a:xfrm>
            <a:off x="8092440" y="1783080"/>
            <a:ext cx="3566160" cy="3383280"/>
          </a:xfrm>
          <a:prstGeom prst="roundRect">
            <a:avLst/>
          </a:prstGeom>
          <a:solidFill>
            <a:srgbClr val="DBEAFE"/>
          </a:solidFill>
          <a:ln w="9525">
            <a:solidFill>
              <a:srgbClr val="D9E2EC"/>
            </a:solidFill>
          </a:ln>
        </p:spPr>
        <p:txBody>
          <a:bodyPr wrap="square" anchor="t" lIns="152400" tIns="114300" rIns="152400" bIns="114300"/>
          <a:lstStyle/>
          <a:p>
            <a:r>
              <a:rPr lang="en-US" sz="1400" b="1">
                <a:solidFill>
                  <a:srgbClr val="17202A"/>
                </a:solidFill>
              </a:rPr>
              <a:t xml:space="preserve">Doctor</a:t>
            </a:r>
          </a:p>
          <a:p>
            <a:r>
              <a:rPr lang="en-US" sz="1200">
                <a:solidFill>
                  <a:srgbClr val="17202A"/>
                </a:solidFill>
              </a:rPr>
              <a:t xml:space="preserve">- Sees assigned patients</a:t>
            </a:r>
          </a:p>
          <a:p>
            <a:r>
              <a:rPr lang="en-US" sz="1200">
                <a:solidFill>
                  <a:srgbClr val="17202A"/>
                </a:solidFill>
              </a:rPr>
              <a:t xml:space="preserve">- Opens patient profile</a:t>
            </a:r>
          </a:p>
          <a:p>
            <a:r>
              <a:rPr lang="en-US" sz="1200">
                <a:solidFill>
                  <a:srgbClr val="17202A"/>
                </a:solidFill>
              </a:rPr>
              <a:t xml:space="preserve">- Reads visit and medicine history</a:t>
            </a:r>
          </a:p>
          <a:p>
            <a:r>
              <a:rPr lang="en-US" sz="1200">
                <a:solidFill>
                  <a:srgbClr val="17202A"/>
                </a:solidFill>
              </a:rPr>
              <a:t xml:space="preserve">- Adds diagnosis and prescription</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Role tree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CONSULTATION</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Doctor Consultation Flow</a:t>
            </a:r>
          </a:p>
        </p:txBody>
      </p:sp>
      <p:sp>
        <p:nvSpPr>
          <p:cNvPr id="5" name="TextBox 5"/>
          <p:cNvSpPr txBox="1"/>
          <p:nvPr/>
        </p:nvSpPr>
        <p:spPr>
          <a:xfrm>
            <a:off x="502920" y="17830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1. Login</a:t>
            </a:r>
          </a:p>
          <a:p>
            <a:r>
              <a:rPr lang="en-US" sz="1200">
                <a:solidFill>
                  <a:srgbClr val="17202A"/>
                </a:solidFill>
              </a:rPr>
              <a:t xml:space="preserve">- Doctor logs in and sees doctor dashboard</a:t>
            </a:r>
          </a:p>
        </p:txBody>
      </p:sp>
      <p:sp>
        <p:nvSpPr>
          <p:cNvPr id="6" name="TextBox 6"/>
          <p:cNvSpPr txBox="1"/>
          <p:nvPr/>
        </p:nvSpPr>
        <p:spPr>
          <a:xfrm>
            <a:off x="4297680" y="17830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2. Queue</a:t>
            </a:r>
          </a:p>
          <a:p>
            <a:r>
              <a:rPr lang="en-US" sz="1200">
                <a:solidFill>
                  <a:srgbClr val="17202A"/>
                </a:solidFill>
              </a:rPr>
              <a:t xml:space="preserve">- Doctor sees assigned patients and who is waiting</a:t>
            </a:r>
          </a:p>
        </p:txBody>
      </p:sp>
      <p:sp>
        <p:nvSpPr>
          <p:cNvPr id="7" name="TextBox 7"/>
          <p:cNvSpPr txBox="1"/>
          <p:nvPr/>
        </p:nvSpPr>
        <p:spPr>
          <a:xfrm>
            <a:off x="8092440" y="17830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3. Details</a:t>
            </a:r>
          </a:p>
          <a:p>
            <a:r>
              <a:rPr lang="en-US" sz="1200">
                <a:solidFill>
                  <a:srgbClr val="17202A"/>
                </a:solidFill>
              </a:rPr>
              <a:t xml:space="preserve">- Doctor opens profile and checks previous history</a:t>
            </a:r>
          </a:p>
        </p:txBody>
      </p:sp>
      <p:sp>
        <p:nvSpPr>
          <p:cNvPr id="8" name="TextBox 8"/>
          <p:cNvSpPr txBox="1"/>
          <p:nvPr/>
        </p:nvSpPr>
        <p:spPr>
          <a:xfrm>
            <a:off x="502920" y="36118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4. Current Visit</a:t>
            </a:r>
          </a:p>
          <a:p>
            <a:r>
              <a:rPr lang="en-US" sz="1200">
                <a:solidFill>
                  <a:srgbClr val="17202A"/>
                </a:solidFill>
              </a:rPr>
              <a:t xml:space="preserve">- Doctor enters complaint, diagnosis, medicines, tests, follow-up, notes</a:t>
            </a:r>
          </a:p>
        </p:txBody>
      </p:sp>
      <p:sp>
        <p:nvSpPr>
          <p:cNvPr id="9" name="TextBox 9"/>
          <p:cNvSpPr txBox="1"/>
          <p:nvPr/>
        </p:nvSpPr>
        <p:spPr>
          <a:xfrm>
            <a:off x="4297680" y="36118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5. Save</a:t>
            </a:r>
          </a:p>
          <a:p>
            <a:r>
              <a:rPr lang="en-US" sz="1200">
                <a:solidFill>
                  <a:srgbClr val="17202A"/>
                </a:solidFill>
              </a:rPr>
              <a:t xml:space="preserve">- Record saved as VIS_A or VIS_B</a:t>
            </a:r>
          </a:p>
        </p:txBody>
      </p:sp>
      <p:sp>
        <p:nvSpPr>
          <p:cNvPr id="10" name="TextBox 10"/>
          <p:cNvSpPr txBox="1"/>
          <p:nvPr/>
        </p:nvSpPr>
        <p:spPr>
          <a:xfrm>
            <a:off x="8092440" y="3611880"/>
            <a:ext cx="3566160" cy="1627632"/>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6. History</a:t>
            </a:r>
          </a:p>
          <a:p>
            <a:r>
              <a:rPr lang="en-US" sz="1200">
                <a:solidFill>
                  <a:srgbClr val="17202A"/>
                </a:solidFill>
              </a:rPr>
              <a:t xml:space="preserve">- Next visit continues with full context</a:t>
            </a:r>
          </a:p>
        </p:txBody>
      </p:sp>
      <p:sp>
        <p:nvSpPr>
          <p:cNvPr id="11" name="TextBox 11"/>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Consultation flow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QUEUE</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Patient Queue / Waiting List Example</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This can become a complete digital waiting-room screen so the doctor can see who is next and open the patient profile before consultation starts.</a:t>
            </a:r>
          </a:p>
        </p:txBody>
      </p:sp>
      <p:sp>
        <p:nvSpPr>
          <p:cNvPr id="6" name="TextBox 6"/>
          <p:cNvSpPr txBox="1"/>
          <p:nvPr/>
        </p:nvSpPr>
        <p:spPr>
          <a:xfrm>
            <a:off x="685800" y="2148840"/>
            <a:ext cx="2157984"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Queue</a:t>
            </a:r>
          </a:p>
        </p:txBody>
      </p:sp>
      <p:sp>
        <p:nvSpPr>
          <p:cNvPr id="7" name="TextBox 7"/>
          <p:cNvSpPr txBox="1"/>
          <p:nvPr/>
        </p:nvSpPr>
        <p:spPr>
          <a:xfrm>
            <a:off x="2843784" y="2148840"/>
            <a:ext cx="2157984"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Patient</a:t>
            </a:r>
          </a:p>
        </p:txBody>
      </p:sp>
      <p:sp>
        <p:nvSpPr>
          <p:cNvPr id="8" name="TextBox 8"/>
          <p:cNvSpPr txBox="1"/>
          <p:nvPr/>
        </p:nvSpPr>
        <p:spPr>
          <a:xfrm>
            <a:off x="5001768" y="2148840"/>
            <a:ext cx="2157984"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Reason</a:t>
            </a:r>
          </a:p>
        </p:txBody>
      </p:sp>
      <p:sp>
        <p:nvSpPr>
          <p:cNvPr id="9" name="TextBox 9"/>
          <p:cNvSpPr txBox="1"/>
          <p:nvPr/>
        </p:nvSpPr>
        <p:spPr>
          <a:xfrm>
            <a:off x="7159752" y="2148840"/>
            <a:ext cx="2157984"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Assigned Doctor</a:t>
            </a:r>
          </a:p>
        </p:txBody>
      </p:sp>
      <p:sp>
        <p:nvSpPr>
          <p:cNvPr id="10" name="TextBox 10"/>
          <p:cNvSpPr txBox="1"/>
          <p:nvPr/>
        </p:nvSpPr>
        <p:spPr>
          <a:xfrm>
            <a:off x="9317736" y="2148840"/>
            <a:ext cx="2157984"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Status</a:t>
            </a:r>
          </a:p>
        </p:txBody>
      </p:sp>
      <p:sp>
        <p:nvSpPr>
          <p:cNvPr id="11" name="TextBox 11"/>
          <p:cNvSpPr txBox="1"/>
          <p:nvPr/>
        </p:nvSpPr>
        <p:spPr>
          <a:xfrm>
            <a:off x="685800" y="2532888"/>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1</a:t>
            </a:r>
          </a:p>
        </p:txBody>
      </p:sp>
      <p:sp>
        <p:nvSpPr>
          <p:cNvPr id="12" name="TextBox 12"/>
          <p:cNvSpPr txBox="1"/>
          <p:nvPr/>
        </p:nvSpPr>
        <p:spPr>
          <a:xfrm>
            <a:off x="2843784" y="2532888"/>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Ramesh Kumar</a:t>
            </a:r>
          </a:p>
        </p:txBody>
      </p:sp>
      <p:sp>
        <p:nvSpPr>
          <p:cNvPr id="13" name="TextBox 13"/>
          <p:cNvSpPr txBox="1"/>
          <p:nvPr/>
        </p:nvSpPr>
        <p:spPr>
          <a:xfrm>
            <a:off x="5001768" y="2532888"/>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Fever</a:t>
            </a:r>
          </a:p>
        </p:txBody>
      </p:sp>
      <p:sp>
        <p:nvSpPr>
          <p:cNvPr id="14" name="TextBox 14"/>
          <p:cNvSpPr txBox="1"/>
          <p:nvPr/>
        </p:nvSpPr>
        <p:spPr>
          <a:xfrm>
            <a:off x="7159752" y="2532888"/>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Dr. Arjun</a:t>
            </a:r>
          </a:p>
        </p:txBody>
      </p:sp>
      <p:sp>
        <p:nvSpPr>
          <p:cNvPr id="15" name="TextBox 15"/>
          <p:cNvSpPr txBox="1"/>
          <p:nvPr/>
        </p:nvSpPr>
        <p:spPr>
          <a:xfrm>
            <a:off x="9317736" y="2532888"/>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Waiting</a:t>
            </a:r>
          </a:p>
        </p:txBody>
      </p:sp>
      <p:sp>
        <p:nvSpPr>
          <p:cNvPr id="16" name="TextBox 16"/>
          <p:cNvSpPr txBox="1"/>
          <p:nvPr/>
        </p:nvSpPr>
        <p:spPr>
          <a:xfrm>
            <a:off x="685800" y="2916936"/>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2</a:t>
            </a:r>
          </a:p>
        </p:txBody>
      </p:sp>
      <p:sp>
        <p:nvSpPr>
          <p:cNvPr id="17" name="TextBox 17"/>
          <p:cNvSpPr txBox="1"/>
          <p:nvPr/>
        </p:nvSpPr>
        <p:spPr>
          <a:xfrm>
            <a:off x="2843784" y="2916936"/>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Priya Sharma</a:t>
            </a:r>
          </a:p>
        </p:txBody>
      </p:sp>
      <p:sp>
        <p:nvSpPr>
          <p:cNvPr id="18" name="TextBox 18"/>
          <p:cNvSpPr txBox="1"/>
          <p:nvPr/>
        </p:nvSpPr>
        <p:spPr>
          <a:xfrm>
            <a:off x="5001768" y="2916936"/>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Follow-up</a:t>
            </a:r>
          </a:p>
        </p:txBody>
      </p:sp>
      <p:sp>
        <p:nvSpPr>
          <p:cNvPr id="19" name="TextBox 19"/>
          <p:cNvSpPr txBox="1"/>
          <p:nvPr/>
        </p:nvSpPr>
        <p:spPr>
          <a:xfrm>
            <a:off x="7159752" y="2916936"/>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Dr. Arjun</a:t>
            </a:r>
          </a:p>
        </p:txBody>
      </p:sp>
      <p:sp>
        <p:nvSpPr>
          <p:cNvPr id="20" name="TextBox 20"/>
          <p:cNvSpPr txBox="1"/>
          <p:nvPr/>
        </p:nvSpPr>
        <p:spPr>
          <a:xfrm>
            <a:off x="9317736" y="2916936"/>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Waiting</a:t>
            </a:r>
          </a:p>
        </p:txBody>
      </p:sp>
      <p:sp>
        <p:nvSpPr>
          <p:cNvPr id="21" name="TextBox 21"/>
          <p:cNvSpPr txBox="1"/>
          <p:nvPr/>
        </p:nvSpPr>
        <p:spPr>
          <a:xfrm>
            <a:off x="685800" y="3300984"/>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3</a:t>
            </a:r>
          </a:p>
        </p:txBody>
      </p:sp>
      <p:sp>
        <p:nvSpPr>
          <p:cNvPr id="22" name="TextBox 22"/>
          <p:cNvSpPr txBox="1"/>
          <p:nvPr/>
        </p:nvSpPr>
        <p:spPr>
          <a:xfrm>
            <a:off x="2843784" y="3300984"/>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Suresh Reddy</a:t>
            </a:r>
          </a:p>
        </p:txBody>
      </p:sp>
      <p:sp>
        <p:nvSpPr>
          <p:cNvPr id="23" name="TextBox 23"/>
          <p:cNvSpPr txBox="1"/>
          <p:nvPr/>
        </p:nvSpPr>
        <p:spPr>
          <a:xfrm>
            <a:off x="5001768" y="3300984"/>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Consultation</a:t>
            </a:r>
          </a:p>
        </p:txBody>
      </p:sp>
      <p:sp>
        <p:nvSpPr>
          <p:cNvPr id="24" name="TextBox 24"/>
          <p:cNvSpPr txBox="1"/>
          <p:nvPr/>
        </p:nvSpPr>
        <p:spPr>
          <a:xfrm>
            <a:off x="7159752" y="3300984"/>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Dr. Arjun</a:t>
            </a:r>
          </a:p>
        </p:txBody>
      </p:sp>
      <p:sp>
        <p:nvSpPr>
          <p:cNvPr id="25" name="TextBox 25"/>
          <p:cNvSpPr txBox="1"/>
          <p:nvPr/>
        </p:nvSpPr>
        <p:spPr>
          <a:xfrm>
            <a:off x="9317736" y="3300984"/>
            <a:ext cx="2157984"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Waiting</a:t>
            </a:r>
          </a:p>
        </p:txBody>
      </p:sp>
      <p:sp>
        <p:nvSpPr>
          <p:cNvPr id="26" name="TextBox 26"/>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Waiting list example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PATIENT DETAILS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Patient Details Module</a:t>
            </a:r>
          </a:p>
        </p:txBody>
      </p:sp>
      <p:sp>
        <p:nvSpPr>
          <p:cNvPr id="5" name="TextBox 5"/>
          <p:cNvSpPr txBox="1"/>
          <p:nvPr/>
        </p:nvSpPr>
        <p:spPr>
          <a:xfrm>
            <a:off x="502920" y="1783080"/>
            <a:ext cx="3566160" cy="1627632"/>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Settings</a:t>
            </a:r>
          </a:p>
          <a:p>
            <a:r>
              <a:rPr lang="en-US" sz="1200">
                <a:solidFill>
                  <a:srgbClr val="17202A"/>
                </a:solidFill>
              </a:rPr>
              <a:t xml:space="preserve">- Name, age/date of birth, gender</a:t>
            </a:r>
          </a:p>
          <a:p>
            <a:r>
              <a:rPr lang="en-US" sz="1200">
                <a:solidFill>
                  <a:srgbClr val="17202A"/>
                </a:solidFill>
              </a:rPr>
              <a:t xml:space="preserve">- Contact details</a:t>
            </a:r>
          </a:p>
          <a:p>
            <a:r>
              <a:rPr lang="en-US" sz="1200">
                <a:solidFill>
                  <a:srgbClr val="17202A"/>
                </a:solidFill>
              </a:rPr>
              <a:t xml:space="preserve">- Assigned doctor</a:t>
            </a:r>
          </a:p>
          <a:p>
            <a:r>
              <a:rPr lang="en-US" sz="1200">
                <a:solidFill>
                  <a:srgbClr val="17202A"/>
                </a:solidFill>
              </a:rPr>
              <a:t xml:space="preserve">- Status/visibility where applicable</a:t>
            </a:r>
          </a:p>
        </p:txBody>
      </p:sp>
      <p:sp>
        <p:nvSpPr>
          <p:cNvPr id="6" name="TextBox 6"/>
          <p:cNvSpPr txBox="1"/>
          <p:nvPr/>
        </p:nvSpPr>
        <p:spPr>
          <a:xfrm>
            <a:off x="4297680" y="1783080"/>
            <a:ext cx="3566160" cy="1627632"/>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Records</a:t>
            </a:r>
          </a:p>
          <a:p>
            <a:r>
              <a:rPr lang="en-US" sz="1200">
                <a:solidFill>
                  <a:srgbClr val="17202A"/>
                </a:solidFill>
              </a:rPr>
              <a:t xml:space="preserve">- New visit, follow-up, continuation</a:t>
            </a:r>
          </a:p>
          <a:p>
            <a:r>
              <a:rPr lang="en-US" sz="1200">
                <a:solidFill>
                  <a:srgbClr val="17202A"/>
                </a:solidFill>
              </a:rPr>
              <a:t xml:space="preserve">- Disease summary, diagnosis, doctor notes</a:t>
            </a:r>
          </a:p>
          <a:p>
            <a:r>
              <a:rPr lang="en-US" sz="1200">
                <a:solidFill>
                  <a:srgbClr val="17202A"/>
                </a:solidFill>
              </a:rPr>
              <a:t xml:space="preserve">- Created date and visibility status</a:t>
            </a:r>
          </a:p>
        </p:txBody>
      </p:sp>
      <p:sp>
        <p:nvSpPr>
          <p:cNvPr id="7" name="TextBox 7"/>
          <p:cNvSpPr txBox="1"/>
          <p:nvPr/>
        </p:nvSpPr>
        <p:spPr>
          <a:xfrm>
            <a:off x="8092440" y="1783080"/>
            <a:ext cx="3566160" cy="1627632"/>
          </a:xfrm>
          <a:prstGeom prst="roundRect">
            <a:avLst/>
          </a:prstGeom>
          <a:solidFill>
            <a:srgbClr val="FFFBEB"/>
          </a:solidFill>
          <a:ln w="9525">
            <a:solidFill>
              <a:srgbClr val="D9E2EC"/>
            </a:solidFill>
          </a:ln>
        </p:spPr>
        <p:txBody>
          <a:bodyPr wrap="square" anchor="t" lIns="152400" tIns="114300" rIns="152400" bIns="114300"/>
          <a:lstStyle/>
          <a:p>
            <a:r>
              <a:rPr lang="en-US" sz="1400" b="1">
                <a:solidFill>
                  <a:srgbClr val="17202A"/>
                </a:solidFill>
              </a:rPr>
              <a:t xml:space="preserve">Prescription</a:t>
            </a:r>
          </a:p>
          <a:p>
            <a:r>
              <a:rPr lang="en-US" sz="1200">
                <a:solidFill>
                  <a:srgbClr val="17202A"/>
                </a:solidFill>
              </a:rPr>
              <a:t xml:space="preserve">- Symptoms, diagnosis, medicines</a:t>
            </a:r>
          </a:p>
          <a:p>
            <a:r>
              <a:rPr lang="en-US" sz="1200">
                <a:solidFill>
                  <a:srgbClr val="17202A"/>
                </a:solidFill>
              </a:rPr>
              <a:t xml:space="preserve">- Dosage and food instructions</a:t>
            </a:r>
          </a:p>
          <a:p>
            <a:r>
              <a:rPr lang="en-US" sz="1200">
                <a:solidFill>
                  <a:srgbClr val="17202A"/>
                </a:solidFill>
              </a:rPr>
              <a:t xml:space="preserve">- Tests/X-rays, follow-up, doctor approval</a:t>
            </a:r>
          </a:p>
        </p:txBody>
      </p:sp>
      <p:sp>
        <p:nvSpPr>
          <p:cNvPr id="8" name="TextBox 8"/>
          <p:cNvSpPr txBox="1"/>
          <p:nvPr/>
        </p:nvSpPr>
        <p:spPr>
          <a:xfrm>
            <a:off x="502920" y="3611880"/>
            <a:ext cx="3566160" cy="1627632"/>
          </a:xfrm>
          <a:prstGeom prst="roundRect">
            <a:avLst/>
          </a:prstGeom>
          <a:solidFill>
            <a:srgbClr val="F8FAFC"/>
          </a:solidFill>
          <a:ln w="9525">
            <a:solidFill>
              <a:srgbClr val="D9E2EC"/>
            </a:solidFill>
          </a:ln>
        </p:spPr>
        <p:txBody>
          <a:bodyPr wrap="square" anchor="t" lIns="152400" tIns="114300" rIns="152400" bIns="114300"/>
          <a:lstStyle/>
          <a:p>
            <a:r>
              <a:rPr lang="en-US" sz="1400" b="1">
                <a:solidFill>
                  <a:srgbClr val="17202A"/>
                </a:solidFill>
              </a:rPr>
              <a:t xml:space="preserve">Medicine / X-Ray</a:t>
            </a:r>
          </a:p>
          <a:p>
            <a:r>
              <a:rPr lang="en-US" sz="1200">
                <a:solidFill>
                  <a:srgbClr val="17202A"/>
                </a:solidFill>
              </a:rPr>
              <a:t xml:space="preserve">- Medicine files</a:t>
            </a:r>
          </a:p>
          <a:p>
            <a:r>
              <a:rPr lang="en-US" sz="1200">
                <a:solidFill>
                  <a:srgbClr val="17202A"/>
                </a:solidFill>
              </a:rPr>
              <a:t xml:space="preserve">- X-ray reports</a:t>
            </a:r>
          </a:p>
          <a:p>
            <a:r>
              <a:rPr lang="en-US" sz="1200">
                <a:solidFill>
                  <a:srgbClr val="17202A"/>
                </a:solidFill>
              </a:rPr>
              <a:t xml:space="preserve">- Lab attachments</a:t>
            </a:r>
          </a:p>
          <a:p>
            <a:r>
              <a:rPr lang="en-US" sz="1200">
                <a:solidFill>
                  <a:srgbClr val="17202A"/>
                </a:solidFill>
              </a:rPr>
              <a:t xml:space="preserve">- Prescription documents</a:t>
            </a:r>
          </a:p>
        </p:txBody>
      </p:sp>
      <p:sp>
        <p:nvSpPr>
          <p:cNvPr id="9" name="TextBox 9"/>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Patient details module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AUDIT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Incognito / Audit Handling Flow</a:t>
            </a:r>
          </a:p>
        </p:txBody>
      </p:sp>
      <p:sp>
        <p:nvSpPr>
          <p:cNvPr id="5" name="TextBox 5"/>
          <p:cNvSpPr txBox="1"/>
          <p:nvPr/>
        </p:nvSpPr>
        <p:spPr>
          <a:xfrm>
            <a:off x="502920" y="1783080"/>
            <a:ext cx="356616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Normal Mode</a:t>
            </a:r>
          </a:p>
          <a:p>
            <a:r>
              <a:rPr lang="en-US" sz="1200">
                <a:solidFill>
                  <a:srgbClr val="17202A"/>
                </a:solidFill>
              </a:rPr>
              <a:t xml:space="preserve">- Doctors access assigned data</a:t>
            </a:r>
          </a:p>
          <a:p>
            <a:r>
              <a:rPr lang="en-US" sz="1200">
                <a:solidFill>
                  <a:srgbClr val="17202A"/>
                </a:solidFill>
              </a:rPr>
              <a:t xml:space="preserve">- Reception handles front desk</a:t>
            </a:r>
          </a:p>
          <a:p>
            <a:r>
              <a:rPr lang="en-US" sz="1200">
                <a:solidFill>
                  <a:srgbClr val="17202A"/>
                </a:solidFill>
              </a:rPr>
              <a:t xml:space="preserve">- Admin monitors system data</a:t>
            </a:r>
          </a:p>
          <a:p>
            <a:r>
              <a:rPr lang="en-US" sz="1200">
                <a:solidFill>
                  <a:srgbClr val="17202A"/>
                </a:solidFill>
              </a:rPr>
              <a:t xml:space="preserve">- VIS_A normal, VIS_B permission based</a:t>
            </a:r>
          </a:p>
        </p:txBody>
      </p:sp>
      <p:sp>
        <p:nvSpPr>
          <p:cNvPr id="6" name="TextBox 6"/>
          <p:cNvSpPr txBox="1"/>
          <p:nvPr/>
        </p:nvSpPr>
        <p:spPr>
          <a:xfrm>
            <a:off x="4297680" y="1783080"/>
            <a:ext cx="356616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Emergency Hide</a:t>
            </a:r>
          </a:p>
          <a:p>
            <a:r>
              <a:rPr lang="en-US" sz="1200">
                <a:solidFill>
                  <a:srgbClr val="17202A"/>
                </a:solidFill>
              </a:rPr>
              <a:t xml:space="preserve">- Trusted Super Admin enables hide</a:t>
            </a:r>
          </a:p>
          <a:p>
            <a:r>
              <a:rPr lang="en-US" sz="1200">
                <a:solidFill>
                  <a:srgbClr val="17202A"/>
                </a:solidFill>
              </a:rPr>
              <a:t xml:space="preserve">- VIS_B hidden from normal views</a:t>
            </a:r>
          </a:p>
          <a:p>
            <a:r>
              <a:rPr lang="en-US" sz="1200">
                <a:solidFill>
                  <a:srgbClr val="17202A"/>
                </a:solidFill>
              </a:rPr>
              <a:t xml:space="preserve">- Normal screens and exports show only VIS_A</a:t>
            </a:r>
          </a:p>
          <a:p>
            <a:r>
              <a:rPr lang="en-US" sz="1200">
                <a:solidFill>
                  <a:srgbClr val="17202A"/>
                </a:solidFill>
              </a:rPr>
              <a:t xml:space="preserve">- Audit log stores who/when/why</a:t>
            </a:r>
          </a:p>
        </p:txBody>
      </p:sp>
      <p:sp>
        <p:nvSpPr>
          <p:cNvPr id="7" name="TextBox 7"/>
          <p:cNvSpPr txBox="1"/>
          <p:nvPr/>
        </p:nvSpPr>
        <p:spPr>
          <a:xfrm>
            <a:off x="8092440" y="1783080"/>
            <a:ext cx="356616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Restore Mode</a:t>
            </a:r>
          </a:p>
          <a:p>
            <a:r>
              <a:rPr lang="en-US" sz="1200">
                <a:solidFill>
                  <a:srgbClr val="17202A"/>
                </a:solidFill>
              </a:rPr>
              <a:t xml:space="preserve">- Trusted Super Admin restores records</a:t>
            </a:r>
          </a:p>
          <a:p>
            <a:r>
              <a:rPr lang="en-US" sz="1200">
                <a:solidFill>
                  <a:srgbClr val="17202A"/>
                </a:solidFill>
              </a:rPr>
              <a:t xml:space="preserve">- VIS_B returns to controlled availability</a:t>
            </a:r>
          </a:p>
          <a:p>
            <a:r>
              <a:rPr lang="en-US" sz="1200">
                <a:solidFill>
                  <a:srgbClr val="17202A"/>
                </a:solidFill>
              </a:rPr>
              <a:t xml:space="preserve">- Audit log stores restore activity</a:t>
            </a:r>
          </a:p>
        </p:txBody>
      </p:sp>
      <p:sp>
        <p:nvSpPr>
          <p:cNvPr id="8" name="TextBox 8"/>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Incognito and audit handling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PAYMENTS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Offline Payment Plan</a:t>
            </a:r>
          </a:p>
        </p:txBody>
      </p:sp>
      <p:sp>
        <p:nvSpPr>
          <p:cNvPr id="5" name="TextBox 5"/>
          <p:cNvSpPr txBox="1"/>
          <p:nvPr/>
        </p:nvSpPr>
        <p:spPr>
          <a:xfrm>
            <a:off x="502920" y="1783080"/>
            <a:ext cx="546354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Approach</a:t>
            </a:r>
          </a:p>
          <a:p>
            <a:r>
              <a:rPr lang="en-US" sz="1200">
                <a:solidFill>
                  <a:srgbClr val="17202A"/>
                </a:solidFill>
              </a:rPr>
              <a:t xml:space="preserve">- Offline payment mode</a:t>
            </a:r>
          </a:p>
          <a:p>
            <a:r>
              <a:rPr lang="en-US" sz="1200">
                <a:solidFill>
                  <a:srgbClr val="17202A"/>
                </a:solidFill>
              </a:rPr>
              <a:t xml:space="preserve">- Receptionist records payment status manually</a:t>
            </a:r>
          </a:p>
          <a:p>
            <a:r>
              <a:rPr lang="en-US" sz="1200">
                <a:solidFill>
                  <a:srgbClr val="17202A"/>
                </a:solidFill>
              </a:rPr>
              <a:t xml:space="preserve">- Cash, outside UPI, card machine, or other offline method</a:t>
            </a:r>
          </a:p>
          <a:p>
            <a:r>
              <a:rPr lang="en-US" sz="1200">
                <a:solidFill>
                  <a:srgbClr val="17202A"/>
                </a:solidFill>
              </a:rPr>
              <a:t xml:space="preserve">- Payment reference or notes can be maintained</a:t>
            </a:r>
          </a:p>
        </p:txBody>
      </p:sp>
      <p:sp>
        <p:nvSpPr>
          <p:cNvPr id="6" name="TextBox 6"/>
          <p:cNvSpPr txBox="1"/>
          <p:nvPr/>
        </p:nvSpPr>
        <p:spPr>
          <a:xfrm>
            <a:off x="6195059" y="1783080"/>
            <a:ext cx="546354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Example</a:t>
            </a:r>
          </a:p>
          <a:p>
            <a:r>
              <a:rPr lang="en-US" sz="1200">
                <a:solidFill>
                  <a:srgbClr val="17202A"/>
                </a:solidFill>
              </a:rPr>
              <a:t xml:space="preserve">- Ramesh pays consultation fee by cash</a:t>
            </a:r>
          </a:p>
          <a:p>
            <a:r>
              <a:rPr lang="en-US" sz="1200">
                <a:solidFill>
                  <a:srgbClr val="17202A"/>
                </a:solidFill>
              </a:rPr>
              <a:t xml:space="preserve">- Receptionist marks payment as received</a:t>
            </a:r>
          </a:p>
          <a:p>
            <a:r>
              <a:rPr lang="en-US" sz="1200">
                <a:solidFill>
                  <a:srgbClr val="17202A"/>
                </a:solidFill>
              </a:rPr>
              <a:t xml:space="preserve">- Doctor continues consultation without waiting for online gateway confirmation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Offline payment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TRUSTED CONTROL</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Future Trusted-Person Operating Model</a:t>
            </a:r>
          </a:p>
        </p:txBody>
      </p:sp>
      <p:sp>
        <p:nvSpPr>
          <p:cNvPr id="5" name="TextBox 5"/>
          <p:cNvSpPr txBox="1"/>
          <p:nvPr/>
        </p:nvSpPr>
        <p:spPr>
          <a:xfrm>
            <a:off x="502920" y="1783080"/>
            <a:ext cx="546354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Trusted User Can</a:t>
            </a:r>
          </a:p>
          <a:p>
            <a:r>
              <a:rPr lang="en-US" sz="1200">
                <a:solidFill>
                  <a:srgbClr val="17202A"/>
                </a:solidFill>
              </a:rPr>
              <a:t xml:space="preserve">- Control VIS_A and VIS_B</a:t>
            </a:r>
          </a:p>
          <a:p>
            <a:r>
              <a:rPr lang="en-US" sz="1200">
                <a:solidFill>
                  <a:srgbClr val="17202A"/>
                </a:solidFill>
              </a:rPr>
              <a:t xml:space="preserve">- Manage inspection mode</a:t>
            </a:r>
          </a:p>
          <a:p>
            <a:r>
              <a:rPr lang="en-US" sz="1200">
                <a:solidFill>
                  <a:srgbClr val="17202A"/>
                </a:solidFill>
              </a:rPr>
              <a:t xml:space="preserve">- Manage doctors and receptionists</a:t>
            </a:r>
          </a:p>
          <a:p>
            <a:r>
              <a:rPr lang="en-US" sz="1200">
                <a:solidFill>
                  <a:srgbClr val="17202A"/>
                </a:solidFill>
              </a:rPr>
              <a:t xml:space="preserve">- Monitor audit logs</a:t>
            </a:r>
          </a:p>
          <a:p>
            <a:r>
              <a:rPr lang="en-US" sz="1200">
                <a:solidFill>
                  <a:srgbClr val="17202A"/>
                </a:solidFill>
              </a:rPr>
              <a:t xml:space="preserve">- Restore hidden records</a:t>
            </a:r>
          </a:p>
        </p:txBody>
      </p:sp>
      <p:sp>
        <p:nvSpPr>
          <p:cNvPr id="6" name="TextBox 6"/>
          <p:cNvSpPr txBox="1"/>
          <p:nvPr/>
        </p:nvSpPr>
        <p:spPr>
          <a:xfrm>
            <a:off x="6195059" y="1783080"/>
            <a:ext cx="5463540" cy="3383280"/>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Why It Matters</a:t>
            </a:r>
          </a:p>
          <a:p>
            <a:r>
              <a:rPr lang="en-US" sz="1200">
                <a:solidFill>
                  <a:srgbClr val="17202A"/>
                </a:solidFill>
              </a:rPr>
              <a:t xml:space="preserve">- Incognito feature should not be available to every staff member</a:t>
            </a:r>
          </a:p>
          <a:p>
            <a:r>
              <a:rPr lang="en-US" sz="1200">
                <a:solidFill>
                  <a:srgbClr val="17202A"/>
                </a:solidFill>
              </a:rPr>
              <a:t xml:space="preserve">- It should be controlled only by trusted hospital users</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Trusted-person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WAITING ROOM</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Waiting-Room Optimization Plan</a:t>
            </a:r>
          </a:p>
        </p:txBody>
      </p:sp>
      <p:sp>
        <p:nvSpPr>
          <p:cNvPr id="5" name="TextBox 5"/>
          <p:cNvSpPr txBox="1"/>
          <p:nvPr/>
        </p:nvSpPr>
        <p:spPr>
          <a:xfrm>
            <a:off x="502920" y="1783080"/>
            <a:ext cx="546354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Doctor Screen Can Show</a:t>
            </a:r>
          </a:p>
          <a:p>
            <a:r>
              <a:rPr lang="en-US" sz="1200">
                <a:solidFill>
                  <a:srgbClr val="17202A"/>
                </a:solidFill>
              </a:rPr>
              <a:t xml:space="preserve">- Who is waiting</a:t>
            </a:r>
          </a:p>
          <a:p>
            <a:r>
              <a:rPr lang="en-US" sz="1200">
                <a:solidFill>
                  <a:srgbClr val="17202A"/>
                </a:solidFill>
              </a:rPr>
              <a:t xml:space="preserve">- Who is next</a:t>
            </a:r>
          </a:p>
          <a:p>
            <a:r>
              <a:rPr lang="en-US" sz="1200">
                <a:solidFill>
                  <a:srgbClr val="17202A"/>
                </a:solidFill>
              </a:rPr>
              <a:t xml:space="preserve">- Which patient is in consultation</a:t>
            </a:r>
          </a:p>
          <a:p>
            <a:r>
              <a:rPr lang="en-US" sz="1200">
                <a:solidFill>
                  <a:srgbClr val="17202A"/>
                </a:solidFill>
              </a:rPr>
              <a:t xml:space="preserve">- Visit type and assigned doctor</a:t>
            </a:r>
          </a:p>
          <a:p>
            <a:r>
              <a:rPr lang="en-US" sz="1200">
                <a:solidFill>
                  <a:srgbClr val="17202A"/>
                </a:solidFill>
              </a:rPr>
              <a:t xml:space="preserve">- Previous summary, pending reports, follow-up status</a:t>
            </a:r>
          </a:p>
        </p:txBody>
      </p:sp>
      <p:sp>
        <p:nvSpPr>
          <p:cNvPr id="6" name="TextBox 6"/>
          <p:cNvSpPr txBox="1"/>
          <p:nvPr/>
        </p:nvSpPr>
        <p:spPr>
          <a:xfrm>
            <a:off x="6195059" y="1783080"/>
            <a:ext cx="546354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Waiting Flow</a:t>
            </a:r>
          </a:p>
          <a:p>
            <a:r>
              <a:rPr lang="en-US" sz="1200">
                <a:solidFill>
                  <a:srgbClr val="17202A"/>
                </a:solidFill>
              </a:rPr>
              <a:t xml:space="preserve">- Reception registers patient</a:t>
            </a:r>
          </a:p>
          <a:p>
            <a:r>
              <a:rPr lang="en-US" sz="1200">
                <a:solidFill>
                  <a:srgbClr val="17202A"/>
                </a:solidFill>
              </a:rPr>
              <a:t xml:space="preserve">- Patient enters waiting list</a:t>
            </a:r>
          </a:p>
          <a:p>
            <a:r>
              <a:rPr lang="en-US" sz="1200">
                <a:solidFill>
                  <a:srgbClr val="17202A"/>
                </a:solidFill>
              </a:rPr>
              <a:t xml:space="preserve">- Doctor screen shows next patient</a:t>
            </a:r>
          </a:p>
          <a:p>
            <a:r>
              <a:rPr lang="en-US" sz="1200">
                <a:solidFill>
                  <a:srgbClr val="17202A"/>
                </a:solidFill>
              </a:rPr>
              <a:t xml:space="preserve">- Doctor opens details before calling patient</a:t>
            </a:r>
          </a:p>
          <a:p>
            <a:r>
              <a:rPr lang="en-US" sz="1200">
                <a:solidFill>
                  <a:srgbClr val="17202A"/>
                </a:solidFill>
              </a:rPr>
              <a:t xml:space="preserve">- Consultation starts</a:t>
            </a:r>
          </a:p>
          <a:p>
            <a:r>
              <a:rPr lang="en-US" sz="1200">
                <a:solidFill>
                  <a:srgbClr val="17202A"/>
                </a:solidFill>
              </a:rPr>
              <a:t xml:space="preserve">- Prescription and record saved</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Waiting-room digitalization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MEDICINE HISTORY</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Medicine History Maintenance</a:t>
            </a:r>
          </a:p>
        </p:txBody>
      </p:sp>
      <p:sp>
        <p:nvSpPr>
          <p:cNvPr id="5" name="TextBox 5"/>
          <p:cNvSpPr txBox="1"/>
          <p:nvPr/>
        </p:nvSpPr>
        <p:spPr>
          <a:xfrm>
            <a:off x="502920" y="1783080"/>
            <a:ext cx="546354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Doctor Can Check</a:t>
            </a:r>
          </a:p>
          <a:p>
            <a:r>
              <a:rPr lang="en-US" sz="1200">
                <a:solidFill>
                  <a:srgbClr val="17202A"/>
                </a:solidFill>
              </a:rPr>
              <a:t xml:space="preserve">- Previous medicine names</a:t>
            </a:r>
          </a:p>
          <a:p>
            <a:r>
              <a:rPr lang="en-US" sz="1200">
                <a:solidFill>
                  <a:srgbClr val="17202A"/>
                </a:solidFill>
              </a:rPr>
              <a:t xml:space="preserve">- Dosage</a:t>
            </a:r>
          </a:p>
          <a:p>
            <a:r>
              <a:rPr lang="en-US" sz="1200">
                <a:solidFill>
                  <a:srgbClr val="17202A"/>
                </a:solidFill>
              </a:rPr>
              <a:t xml:space="preserve">- Number of days</a:t>
            </a:r>
          </a:p>
          <a:p>
            <a:r>
              <a:rPr lang="en-US" sz="1200">
                <a:solidFill>
                  <a:srgbClr val="17202A"/>
                </a:solidFill>
              </a:rPr>
              <a:t xml:space="preserve">- Instructions</a:t>
            </a:r>
          </a:p>
          <a:p>
            <a:r>
              <a:rPr lang="en-US" sz="1200">
                <a:solidFill>
                  <a:srgbClr val="17202A"/>
                </a:solidFill>
              </a:rPr>
              <a:t xml:space="preserve">- Diagnosis connected to medicine</a:t>
            </a:r>
          </a:p>
          <a:p>
            <a:r>
              <a:rPr lang="en-US" sz="1200">
                <a:solidFill>
                  <a:srgbClr val="17202A"/>
                </a:solidFill>
              </a:rPr>
              <a:t xml:space="preserve">- Follow-up advice</a:t>
            </a:r>
          </a:p>
          <a:p>
            <a:r>
              <a:rPr lang="en-US" sz="1200">
                <a:solidFill>
                  <a:srgbClr val="17202A"/>
                </a:solidFill>
              </a:rPr>
              <a:t xml:space="preserve">- Current or older visit</a:t>
            </a:r>
          </a:p>
        </p:txBody>
      </p:sp>
      <p:sp>
        <p:nvSpPr>
          <p:cNvPr id="6" name="TextBox 6"/>
          <p:cNvSpPr txBox="1"/>
          <p:nvPr/>
        </p:nvSpPr>
        <p:spPr>
          <a:xfrm>
            <a:off x="6195059" y="1783080"/>
            <a:ext cx="5463540" cy="3383280"/>
          </a:xfrm>
          <a:prstGeom prst="roundRect">
            <a:avLst/>
          </a:prstGeom>
          <a:solidFill>
            <a:srgbClr val="FFFFFF"/>
          </a:solidFill>
          <a:ln w="9525">
            <a:solidFill>
              <a:srgbClr val="D9E2EC"/>
            </a:solidFill>
          </a:ln>
        </p:spPr>
        <p:txBody>
          <a:bodyPr wrap="square" anchor="t" lIns="152400" tIns="114300" rIns="152400" bIns="114300"/>
          <a:lstStyle/>
          <a:p>
            <a:r>
              <a:rPr lang="en-US" sz="1400" b="1">
                <a:solidFill>
                  <a:srgbClr val="17202A"/>
                </a:solidFill>
              </a:rPr>
              <a:t xml:space="preserve">Example</a:t>
            </a:r>
          </a:p>
          <a:p>
            <a:r>
              <a:rPr lang="en-US" sz="1200">
                <a:solidFill>
                  <a:srgbClr val="17202A"/>
                </a:solidFill>
              </a:rPr>
              <a:t xml:space="preserve">- Priya returns for gastric pain</a:t>
            </a:r>
          </a:p>
          <a:p>
            <a:r>
              <a:rPr lang="en-US" sz="1200">
                <a:solidFill>
                  <a:srgbClr val="17202A"/>
                </a:solidFill>
              </a:rPr>
              <a:t xml:space="preserve">- Doctor checks medicine given last month</a:t>
            </a:r>
          </a:p>
          <a:p>
            <a:r>
              <a:rPr lang="en-US" sz="1200">
                <a:solidFill>
                  <a:srgbClr val="17202A"/>
                </a:solidFill>
              </a:rPr>
              <a:t xml:space="preserve">- Doctor avoids unnecessary repetition and changes treatment based on history</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Medicine and prescription history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PERMISSIONS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Who Can See What</a:t>
            </a:r>
          </a:p>
        </p:txBody>
      </p:sp>
      <p:sp>
        <p:nvSpPr>
          <p:cNvPr id="5" name="TextBox 5"/>
          <p:cNvSpPr txBox="1"/>
          <p:nvPr/>
        </p:nvSpPr>
        <p:spPr>
          <a:xfrm>
            <a:off x="685800" y="1783080"/>
            <a:ext cx="2697480"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Action</a:t>
            </a:r>
          </a:p>
        </p:txBody>
      </p:sp>
      <p:sp>
        <p:nvSpPr>
          <p:cNvPr id="6" name="TextBox 6"/>
          <p:cNvSpPr txBox="1"/>
          <p:nvPr/>
        </p:nvSpPr>
        <p:spPr>
          <a:xfrm>
            <a:off x="3383280" y="1783080"/>
            <a:ext cx="2697480"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Super Admin</a:t>
            </a:r>
          </a:p>
        </p:txBody>
      </p:sp>
      <p:sp>
        <p:nvSpPr>
          <p:cNvPr id="7" name="TextBox 7"/>
          <p:cNvSpPr txBox="1"/>
          <p:nvPr/>
        </p:nvSpPr>
        <p:spPr>
          <a:xfrm>
            <a:off x="6080760" y="1783080"/>
            <a:ext cx="2697480"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Doctor</a:t>
            </a:r>
          </a:p>
        </p:txBody>
      </p:sp>
      <p:sp>
        <p:nvSpPr>
          <p:cNvPr id="8" name="TextBox 8"/>
          <p:cNvSpPr txBox="1"/>
          <p:nvPr/>
        </p:nvSpPr>
        <p:spPr>
          <a:xfrm>
            <a:off x="8778240" y="1783080"/>
            <a:ext cx="2697480" cy="384048"/>
          </a:xfrm>
          <a:prstGeom prst="rect">
            <a:avLst/>
          </a:prstGeom>
          <a:solidFill>
            <a:srgbClr val="EEF2F7"/>
          </a:solidFill>
          <a:ln w="9525">
            <a:solidFill>
              <a:srgbClr val="D9E2EC"/>
            </a:solidFill>
          </a:ln>
        </p:spPr>
        <p:txBody>
          <a:bodyPr wrap="square" anchor="t" lIns="152400" tIns="114300" rIns="152400" bIns="114300"/>
          <a:lstStyle/>
          <a:p>
            <a:r>
              <a:rPr lang="en-US" sz="1200" b="1">
                <a:solidFill>
                  <a:srgbClr val="273444"/>
                </a:solidFill>
              </a:rPr>
              <a:t xml:space="preserve">Receptionist</a:t>
            </a:r>
          </a:p>
        </p:txBody>
      </p:sp>
      <p:sp>
        <p:nvSpPr>
          <p:cNvPr id="9" name="TextBox 9"/>
          <p:cNvSpPr txBox="1"/>
          <p:nvPr/>
        </p:nvSpPr>
        <p:spPr>
          <a:xfrm>
            <a:off x="685800" y="216712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Create users</a:t>
            </a:r>
          </a:p>
        </p:txBody>
      </p:sp>
      <p:sp>
        <p:nvSpPr>
          <p:cNvPr id="10" name="TextBox 10"/>
          <p:cNvSpPr txBox="1"/>
          <p:nvPr/>
        </p:nvSpPr>
        <p:spPr>
          <a:xfrm>
            <a:off x="3383280" y="216712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11" name="TextBox 11"/>
          <p:cNvSpPr txBox="1"/>
          <p:nvPr/>
        </p:nvSpPr>
        <p:spPr>
          <a:xfrm>
            <a:off x="6080760" y="216712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12" name="TextBox 12"/>
          <p:cNvSpPr txBox="1"/>
          <p:nvPr/>
        </p:nvSpPr>
        <p:spPr>
          <a:xfrm>
            <a:off x="8778240" y="216712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13" name="TextBox 13"/>
          <p:cNvSpPr txBox="1"/>
          <p:nvPr/>
        </p:nvSpPr>
        <p:spPr>
          <a:xfrm>
            <a:off x="685800" y="255117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Create patient</a:t>
            </a:r>
          </a:p>
        </p:txBody>
      </p:sp>
      <p:sp>
        <p:nvSpPr>
          <p:cNvPr id="14" name="TextBox 14"/>
          <p:cNvSpPr txBox="1"/>
          <p:nvPr/>
        </p:nvSpPr>
        <p:spPr>
          <a:xfrm>
            <a:off x="3383280" y="255117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Usually no/admin controlled</a:t>
            </a:r>
          </a:p>
        </p:txBody>
      </p:sp>
      <p:sp>
        <p:nvSpPr>
          <p:cNvPr id="15" name="TextBox 15"/>
          <p:cNvSpPr txBox="1"/>
          <p:nvPr/>
        </p:nvSpPr>
        <p:spPr>
          <a:xfrm>
            <a:off x="6080760" y="255117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16" name="TextBox 16"/>
          <p:cNvSpPr txBox="1"/>
          <p:nvPr/>
        </p:nvSpPr>
        <p:spPr>
          <a:xfrm>
            <a:off x="8778240" y="255117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17" name="TextBox 17"/>
          <p:cNvSpPr txBox="1"/>
          <p:nvPr/>
        </p:nvSpPr>
        <p:spPr>
          <a:xfrm>
            <a:off x="685800" y="2935224"/>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Assign doctor</a:t>
            </a:r>
          </a:p>
        </p:txBody>
      </p:sp>
      <p:sp>
        <p:nvSpPr>
          <p:cNvPr id="18" name="TextBox 18"/>
          <p:cNvSpPr txBox="1"/>
          <p:nvPr/>
        </p:nvSpPr>
        <p:spPr>
          <a:xfrm>
            <a:off x="3383280" y="2935224"/>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19" name="TextBox 19"/>
          <p:cNvSpPr txBox="1"/>
          <p:nvPr/>
        </p:nvSpPr>
        <p:spPr>
          <a:xfrm>
            <a:off x="6080760" y="2935224"/>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20" name="TextBox 20"/>
          <p:cNvSpPr txBox="1"/>
          <p:nvPr/>
        </p:nvSpPr>
        <p:spPr>
          <a:xfrm>
            <a:off x="8778240" y="2935224"/>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 during registration</a:t>
            </a:r>
          </a:p>
        </p:txBody>
      </p:sp>
      <p:sp>
        <p:nvSpPr>
          <p:cNvPr id="21" name="TextBox 21"/>
          <p:cNvSpPr txBox="1"/>
          <p:nvPr/>
        </p:nvSpPr>
        <p:spPr>
          <a:xfrm>
            <a:off x="685800" y="3319272"/>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See patient profile</a:t>
            </a:r>
          </a:p>
        </p:txBody>
      </p:sp>
      <p:sp>
        <p:nvSpPr>
          <p:cNvPr id="22" name="TextBox 22"/>
          <p:cNvSpPr txBox="1"/>
          <p:nvPr/>
        </p:nvSpPr>
        <p:spPr>
          <a:xfrm>
            <a:off x="3383280" y="3319272"/>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23" name="TextBox 23"/>
          <p:cNvSpPr txBox="1"/>
          <p:nvPr/>
        </p:nvSpPr>
        <p:spPr>
          <a:xfrm>
            <a:off x="6080760" y="3319272"/>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Based on rules</a:t>
            </a:r>
          </a:p>
        </p:txBody>
      </p:sp>
      <p:sp>
        <p:nvSpPr>
          <p:cNvPr id="24" name="TextBox 24"/>
          <p:cNvSpPr txBox="1"/>
          <p:nvPr/>
        </p:nvSpPr>
        <p:spPr>
          <a:xfrm>
            <a:off x="8778240" y="3319272"/>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Based on rules</a:t>
            </a:r>
          </a:p>
        </p:txBody>
      </p:sp>
      <p:sp>
        <p:nvSpPr>
          <p:cNvPr id="25" name="TextBox 25"/>
          <p:cNvSpPr txBox="1"/>
          <p:nvPr/>
        </p:nvSpPr>
        <p:spPr>
          <a:xfrm>
            <a:off x="685800" y="3703320"/>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Change VIS_A/VIS_B</a:t>
            </a:r>
          </a:p>
        </p:txBody>
      </p:sp>
      <p:sp>
        <p:nvSpPr>
          <p:cNvPr id="26" name="TextBox 26"/>
          <p:cNvSpPr txBox="1"/>
          <p:nvPr/>
        </p:nvSpPr>
        <p:spPr>
          <a:xfrm>
            <a:off x="3383280" y="3703320"/>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27" name="TextBox 27"/>
          <p:cNvSpPr txBox="1"/>
          <p:nvPr/>
        </p:nvSpPr>
        <p:spPr>
          <a:xfrm>
            <a:off x="6080760" y="3703320"/>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If authorized</a:t>
            </a:r>
          </a:p>
        </p:txBody>
      </p:sp>
      <p:sp>
        <p:nvSpPr>
          <p:cNvPr id="28" name="TextBox 28"/>
          <p:cNvSpPr txBox="1"/>
          <p:nvPr/>
        </p:nvSpPr>
        <p:spPr>
          <a:xfrm>
            <a:off x="8778240" y="3703320"/>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Limited/controlled</a:t>
            </a:r>
          </a:p>
        </p:txBody>
      </p:sp>
      <p:sp>
        <p:nvSpPr>
          <p:cNvPr id="29" name="TextBox 29"/>
          <p:cNvSpPr txBox="1"/>
          <p:nvPr/>
        </p:nvSpPr>
        <p:spPr>
          <a:xfrm>
            <a:off x="685800" y="408736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Emergency hide/restore</a:t>
            </a:r>
          </a:p>
        </p:txBody>
      </p:sp>
      <p:sp>
        <p:nvSpPr>
          <p:cNvPr id="30" name="TextBox 30"/>
          <p:cNvSpPr txBox="1"/>
          <p:nvPr/>
        </p:nvSpPr>
        <p:spPr>
          <a:xfrm>
            <a:off x="3383280" y="408736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Yes</a:t>
            </a:r>
          </a:p>
        </p:txBody>
      </p:sp>
      <p:sp>
        <p:nvSpPr>
          <p:cNvPr id="31" name="TextBox 31"/>
          <p:cNvSpPr txBox="1"/>
          <p:nvPr/>
        </p:nvSpPr>
        <p:spPr>
          <a:xfrm>
            <a:off x="6080760" y="408736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32" name="TextBox 32"/>
          <p:cNvSpPr txBox="1"/>
          <p:nvPr/>
        </p:nvSpPr>
        <p:spPr>
          <a:xfrm>
            <a:off x="8778240" y="4087368"/>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No</a:t>
            </a:r>
          </a:p>
        </p:txBody>
      </p:sp>
      <p:sp>
        <p:nvSpPr>
          <p:cNvPr id="33" name="TextBox 33"/>
          <p:cNvSpPr txBox="1"/>
          <p:nvPr/>
        </p:nvSpPr>
        <p:spPr>
          <a:xfrm>
            <a:off x="685800" y="447141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View audit logs</a:t>
            </a:r>
          </a:p>
        </p:txBody>
      </p:sp>
      <p:sp>
        <p:nvSpPr>
          <p:cNvPr id="34" name="TextBox 34"/>
          <p:cNvSpPr txBox="1"/>
          <p:nvPr/>
        </p:nvSpPr>
        <p:spPr>
          <a:xfrm>
            <a:off x="3383280" y="447141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Full</a:t>
            </a:r>
          </a:p>
        </p:txBody>
      </p:sp>
      <p:sp>
        <p:nvSpPr>
          <p:cNvPr id="35" name="TextBox 35"/>
          <p:cNvSpPr txBox="1"/>
          <p:nvPr/>
        </p:nvSpPr>
        <p:spPr>
          <a:xfrm>
            <a:off x="6080760" y="447141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Scoped</a:t>
            </a:r>
          </a:p>
        </p:txBody>
      </p:sp>
      <p:sp>
        <p:nvSpPr>
          <p:cNvPr id="36" name="TextBox 36"/>
          <p:cNvSpPr txBox="1"/>
          <p:nvPr/>
        </p:nvSpPr>
        <p:spPr>
          <a:xfrm>
            <a:off x="8778240" y="4471416"/>
            <a:ext cx="2697480" cy="384048"/>
          </a:xfrm>
          <a:prstGeom prst="rect">
            <a:avLst/>
          </a:prstGeom>
          <a:solidFill>
            <a:srgbClr val="FFFFFF"/>
          </a:solidFill>
          <a:ln w="9525">
            <a:solidFill>
              <a:srgbClr val="D9E2EC"/>
            </a:solidFill>
          </a:ln>
        </p:spPr>
        <p:txBody>
          <a:bodyPr wrap="square" anchor="t" lIns="152400" tIns="114300" rIns="152400" bIns="114300"/>
          <a:lstStyle/>
          <a:p>
            <a:r>
              <a:rPr lang="en-US" sz="1000">
                <a:solidFill>
                  <a:srgbClr val="5D6D7E"/>
                </a:solidFill>
              </a:rPr>
              <a:t xml:space="preserve">Own/scoped</a:t>
            </a:r>
          </a:p>
        </p:txBody>
      </p:sp>
      <p:sp>
        <p:nvSpPr>
          <p:cNvPr id="37" name="TextBox 3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Permission matrix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AUDIT SAFETY</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Export And Audit Safety</a:t>
            </a:r>
          </a:p>
        </p:txBody>
      </p:sp>
      <p:sp>
        <p:nvSpPr>
          <p:cNvPr id="5" name="TextBox 5"/>
          <p:cNvSpPr txBox="1"/>
          <p:nvPr/>
        </p:nvSpPr>
        <p:spPr>
          <a:xfrm>
            <a:off x="502920" y="1783080"/>
            <a:ext cx="546354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Export Rules</a:t>
            </a:r>
          </a:p>
          <a:p>
            <a:r>
              <a:rPr lang="en-US" sz="1200">
                <a:solidFill>
                  <a:srgbClr val="17202A"/>
                </a:solidFill>
              </a:rPr>
              <a:t xml:space="preserve">- Receptionist export should be restricted</a:t>
            </a:r>
          </a:p>
          <a:p>
            <a:r>
              <a:rPr lang="en-US" sz="1200">
                <a:solidFill>
                  <a:srgbClr val="17202A"/>
                </a:solidFill>
              </a:rPr>
              <a:t xml:space="preserve">- Doctor export should be related to assigned patients</a:t>
            </a:r>
          </a:p>
          <a:p>
            <a:r>
              <a:rPr lang="en-US" sz="1200">
                <a:solidFill>
                  <a:srgbClr val="17202A"/>
                </a:solidFill>
              </a:rPr>
              <a:t xml:space="preserve">- Super Admin export can be broader but should be audited</a:t>
            </a:r>
          </a:p>
          <a:p>
            <a:r>
              <a:rPr lang="en-US" sz="1200">
                <a:solidFill>
                  <a:srgbClr val="17202A"/>
                </a:solidFill>
              </a:rPr>
              <a:t xml:space="preserve">- Emergency hide mode exports should show only VIS_A</a:t>
            </a:r>
          </a:p>
        </p:txBody>
      </p:sp>
      <p:sp>
        <p:nvSpPr>
          <p:cNvPr id="6" name="TextBox 6"/>
          <p:cNvSpPr txBox="1"/>
          <p:nvPr/>
        </p:nvSpPr>
        <p:spPr>
          <a:xfrm>
            <a:off x="6195059" y="1783080"/>
            <a:ext cx="546354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Audit Logged Actions</a:t>
            </a:r>
          </a:p>
          <a:p>
            <a:r>
              <a:rPr lang="en-US" sz="1200">
                <a:solidFill>
                  <a:srgbClr val="17202A"/>
                </a:solidFill>
              </a:rPr>
              <a:t xml:space="preserve">- Login</a:t>
            </a:r>
          </a:p>
          <a:p>
            <a:r>
              <a:rPr lang="en-US" sz="1200">
                <a:solidFill>
                  <a:srgbClr val="17202A"/>
                </a:solidFill>
              </a:rPr>
              <a:t xml:space="preserve">- Patient creation</a:t>
            </a:r>
          </a:p>
          <a:p>
            <a:r>
              <a:rPr lang="en-US" sz="1200">
                <a:solidFill>
                  <a:srgbClr val="17202A"/>
                </a:solidFill>
              </a:rPr>
              <a:t xml:space="preserve">- Record creation</a:t>
            </a:r>
          </a:p>
          <a:p>
            <a:r>
              <a:rPr lang="en-US" sz="1200">
                <a:solidFill>
                  <a:srgbClr val="17202A"/>
                </a:solidFill>
              </a:rPr>
              <a:t xml:space="preserve">- Visibility change</a:t>
            </a:r>
          </a:p>
          <a:p>
            <a:r>
              <a:rPr lang="en-US" sz="1200">
                <a:solidFill>
                  <a:srgbClr val="17202A"/>
                </a:solidFill>
              </a:rPr>
              <a:t xml:space="preserve">- Export</a:t>
            </a:r>
          </a:p>
          <a:p>
            <a:r>
              <a:rPr lang="en-US" sz="1200">
                <a:solidFill>
                  <a:srgbClr val="17202A"/>
                </a:solidFill>
              </a:rPr>
              <a:t xml:space="preserve">- Emergency hide</a:t>
            </a:r>
          </a:p>
          <a:p>
            <a:r>
              <a:rPr lang="en-US" sz="1200">
                <a:solidFill>
                  <a:srgbClr val="17202A"/>
                </a:solidFill>
              </a:rPr>
              <a:t xml:space="preserve">- Emergency restore</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Export and audit safety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EXAMPLES</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Two Patient Scenarios</a:t>
            </a:r>
          </a:p>
        </p:txBody>
      </p:sp>
      <p:sp>
        <p:nvSpPr>
          <p:cNvPr id="5" name="TextBox 5"/>
          <p:cNvSpPr txBox="1"/>
          <p:nvPr/>
        </p:nvSpPr>
        <p:spPr>
          <a:xfrm>
            <a:off x="502920" y="1783080"/>
            <a:ext cx="5463540" cy="3383280"/>
          </a:xfrm>
          <a:prstGeom prst="roundRect">
            <a:avLst/>
          </a:prstGeom>
          <a:solidFill>
            <a:srgbClr val="DCFCE7"/>
          </a:solidFill>
          <a:ln w="9525">
            <a:solidFill>
              <a:srgbClr val="D9E2EC"/>
            </a:solidFill>
          </a:ln>
        </p:spPr>
        <p:txBody>
          <a:bodyPr wrap="square" anchor="t" lIns="152400" tIns="114300" rIns="152400" bIns="114300"/>
          <a:lstStyle/>
          <a:p>
            <a:r>
              <a:rPr lang="en-US" sz="1400" b="1">
                <a:solidFill>
                  <a:srgbClr val="17202A"/>
                </a:solidFill>
              </a:rPr>
              <a:t xml:space="preserve">Ramesh Kumar - VIS_A</a:t>
            </a:r>
          </a:p>
          <a:p>
            <a:r>
              <a:rPr lang="en-US" sz="1200">
                <a:solidFill>
                  <a:srgbClr val="17202A"/>
                </a:solidFill>
              </a:rPr>
              <a:t xml:space="preserve">- Registered and assigned to Dr. Arjun</a:t>
            </a:r>
          </a:p>
          <a:p>
            <a:r>
              <a:rPr lang="en-US" sz="1200">
                <a:solidFill>
                  <a:srgbClr val="17202A"/>
                </a:solidFill>
              </a:rPr>
              <a:t xml:space="preserve">- Doctor diagnoses fever and cough</a:t>
            </a:r>
          </a:p>
          <a:p>
            <a:r>
              <a:rPr lang="en-US" sz="1200">
                <a:solidFill>
                  <a:srgbClr val="17202A"/>
                </a:solidFill>
              </a:rPr>
              <a:t xml:space="preserve">- Paracetamol, cough syrup, follow-up advice</a:t>
            </a:r>
          </a:p>
          <a:p>
            <a:r>
              <a:rPr lang="en-US" sz="1200">
                <a:solidFill>
                  <a:srgbClr val="17202A"/>
                </a:solidFill>
              </a:rPr>
              <a:t xml:space="preserve">- Record saved as VIS_A</a:t>
            </a:r>
          </a:p>
          <a:p>
            <a:r>
              <a:rPr lang="en-US" sz="1200">
                <a:solidFill>
                  <a:srgbClr val="17202A"/>
                </a:solidFill>
              </a:rPr>
              <a:t xml:space="preserve">- Later visits continue with history</a:t>
            </a:r>
          </a:p>
        </p:txBody>
      </p:sp>
      <p:sp>
        <p:nvSpPr>
          <p:cNvPr id="6" name="TextBox 6"/>
          <p:cNvSpPr txBox="1"/>
          <p:nvPr/>
        </p:nvSpPr>
        <p:spPr>
          <a:xfrm>
            <a:off x="6195059" y="1783080"/>
            <a:ext cx="546354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Suresh Reddy - VIS_B</a:t>
            </a:r>
          </a:p>
          <a:p>
            <a:r>
              <a:rPr lang="en-US" sz="1200">
                <a:solidFill>
                  <a:srgbClr val="17202A"/>
                </a:solidFill>
              </a:rPr>
              <a:t xml:space="preserve">- Registered and assigned to Dr. Arjun</a:t>
            </a:r>
          </a:p>
          <a:p>
            <a:r>
              <a:rPr lang="en-US" sz="1200">
                <a:solidFill>
                  <a:srgbClr val="17202A"/>
                </a:solidFill>
              </a:rPr>
              <a:t xml:space="preserve">- Doctor completes consultation</a:t>
            </a:r>
          </a:p>
          <a:p>
            <a:r>
              <a:rPr lang="en-US" sz="1200">
                <a:solidFill>
                  <a:srgbClr val="17202A"/>
                </a:solidFill>
              </a:rPr>
              <a:t xml:space="preserve">- Hospital decides record should be incognito</a:t>
            </a:r>
          </a:p>
          <a:p>
            <a:r>
              <a:rPr lang="en-US" sz="1200">
                <a:solidFill>
                  <a:srgbClr val="17202A"/>
                </a:solidFill>
              </a:rPr>
              <a:t xml:space="preserve">- Record saved as VIS_B</a:t>
            </a:r>
          </a:p>
          <a:p>
            <a:r>
              <a:rPr lang="en-US" sz="1200">
                <a:solidFill>
                  <a:srgbClr val="17202A"/>
                </a:solidFill>
              </a:rPr>
              <a:t xml:space="preserve">- Hidden during inspection and restored after audit</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End-to-end examples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VISION</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Final Project Vision</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 doctor should know who is next, open the full patient history on screen, treat faster with better context, maintain medicine and prescription history, and the hospital should control which records remain normal and which records are handled as incognito.</a:t>
            </a:r>
          </a:p>
        </p:txBody>
      </p:sp>
      <p:sp>
        <p:nvSpPr>
          <p:cNvPr id="6" name="TextBox 6"/>
          <p:cNvSpPr txBox="1"/>
          <p:nvPr/>
        </p:nvSpPr>
        <p:spPr>
          <a:xfrm>
            <a:off x="502920" y="2148840"/>
            <a:ext cx="3566160" cy="3383280"/>
          </a:xfrm>
          <a:prstGeom prst="roundRect">
            <a:avLst/>
          </a:prstGeom>
          <a:solidFill>
            <a:srgbClr val="EFF6FF"/>
          </a:solidFill>
          <a:ln w="9525">
            <a:solidFill>
              <a:srgbClr val="D9E2EC"/>
            </a:solidFill>
          </a:ln>
        </p:spPr>
        <p:txBody>
          <a:bodyPr wrap="square" anchor="t" lIns="152400" tIns="114300" rIns="152400" bIns="114300"/>
          <a:lstStyle/>
          <a:p>
            <a:r>
              <a:rPr lang="en-US" sz="1400" b="1">
                <a:solidFill>
                  <a:srgbClr val="17202A"/>
                </a:solidFill>
              </a:rPr>
              <a:t xml:space="preserve">Digital Operations</a:t>
            </a:r>
          </a:p>
          <a:p>
            <a:r>
              <a:rPr lang="en-US" sz="1200">
                <a:solidFill>
                  <a:srgbClr val="17202A"/>
                </a:solidFill>
              </a:rPr>
              <a:t xml:space="preserve">- Digital reception</a:t>
            </a:r>
          </a:p>
          <a:p>
            <a:r>
              <a:rPr lang="en-US" sz="1200">
                <a:solidFill>
                  <a:srgbClr val="17202A"/>
                </a:solidFill>
              </a:rPr>
              <a:t xml:space="preserve">- Digital doctor workflow</a:t>
            </a:r>
          </a:p>
          <a:p>
            <a:r>
              <a:rPr lang="en-US" sz="1200">
                <a:solidFill>
                  <a:srgbClr val="17202A"/>
                </a:solidFill>
              </a:rPr>
              <a:t xml:space="preserve">- Digital waiting room</a:t>
            </a:r>
          </a:p>
        </p:txBody>
      </p:sp>
      <p:sp>
        <p:nvSpPr>
          <p:cNvPr id="7" name="TextBox 7"/>
          <p:cNvSpPr txBox="1"/>
          <p:nvPr/>
        </p:nvSpPr>
        <p:spPr>
          <a:xfrm>
            <a:off x="4297680" y="2148840"/>
            <a:ext cx="3566160" cy="3383280"/>
          </a:xfrm>
          <a:prstGeom prst="roundRect">
            <a:avLst/>
          </a:prstGeom>
          <a:solidFill>
            <a:srgbClr val="ECFDF5"/>
          </a:solidFill>
          <a:ln w="9525">
            <a:solidFill>
              <a:srgbClr val="D9E2EC"/>
            </a:solidFill>
          </a:ln>
        </p:spPr>
        <p:txBody>
          <a:bodyPr wrap="square" anchor="t" lIns="152400" tIns="114300" rIns="152400" bIns="114300"/>
          <a:lstStyle/>
          <a:p>
            <a:r>
              <a:rPr lang="en-US" sz="1400" b="1">
                <a:solidFill>
                  <a:srgbClr val="17202A"/>
                </a:solidFill>
              </a:rPr>
              <a:t xml:space="preserve">Medical Continuity</a:t>
            </a:r>
          </a:p>
          <a:p>
            <a:r>
              <a:rPr lang="en-US" sz="1200">
                <a:solidFill>
                  <a:srgbClr val="17202A"/>
                </a:solidFill>
              </a:rPr>
              <a:t xml:space="preserve">- Patient medical history in one place</a:t>
            </a:r>
          </a:p>
          <a:p>
            <a:r>
              <a:rPr lang="en-US" sz="1200">
                <a:solidFill>
                  <a:srgbClr val="17202A"/>
                </a:solidFill>
              </a:rPr>
              <a:t xml:space="preserve">- Prescription and medicine history</a:t>
            </a:r>
          </a:p>
          <a:p>
            <a:r>
              <a:rPr lang="en-US" sz="1200">
                <a:solidFill>
                  <a:srgbClr val="17202A"/>
                </a:solidFill>
              </a:rPr>
              <a:t xml:space="preserve">- Attachment/report storage</a:t>
            </a:r>
          </a:p>
        </p:txBody>
      </p:sp>
      <p:sp>
        <p:nvSpPr>
          <p:cNvPr id="8" name="TextBox 8"/>
          <p:cNvSpPr txBox="1"/>
          <p:nvPr/>
        </p:nvSpPr>
        <p:spPr>
          <a:xfrm>
            <a:off x="8092440" y="2148840"/>
            <a:ext cx="3566160" cy="3383280"/>
          </a:xfrm>
          <a:prstGeom prst="roundRect">
            <a:avLst/>
          </a:prstGeom>
          <a:solidFill>
            <a:srgbClr val="FEF3C7"/>
          </a:solidFill>
          <a:ln w="9525">
            <a:solidFill>
              <a:srgbClr val="D9E2EC"/>
            </a:solidFill>
          </a:ln>
        </p:spPr>
        <p:txBody>
          <a:bodyPr wrap="square" anchor="t" lIns="152400" tIns="114300" rIns="152400" bIns="114300"/>
          <a:lstStyle/>
          <a:p>
            <a:r>
              <a:rPr lang="en-US" sz="1400" b="1">
                <a:solidFill>
                  <a:srgbClr val="17202A"/>
                </a:solidFill>
              </a:rPr>
              <a:t xml:space="preserve">Controlled Safety</a:t>
            </a:r>
          </a:p>
          <a:p>
            <a:r>
              <a:rPr lang="en-US" sz="1200">
                <a:solidFill>
                  <a:srgbClr val="17202A"/>
                </a:solidFill>
              </a:rPr>
              <a:t xml:space="preserve">- Offline payment handling</a:t>
            </a:r>
          </a:p>
          <a:p>
            <a:r>
              <a:rPr lang="en-US" sz="1200">
                <a:solidFill>
                  <a:srgbClr val="17202A"/>
                </a:solidFill>
              </a:rPr>
              <a:t xml:space="preserve">- Controlled incognito patient records</a:t>
            </a:r>
          </a:p>
          <a:p>
            <a:r>
              <a:rPr lang="en-US" sz="1200">
                <a:solidFill>
                  <a:srgbClr val="17202A"/>
                </a:solidFill>
              </a:rPr>
              <a:t xml:space="preserve">- Audit-safe visibility management</a:t>
            </a:r>
          </a:p>
          <a:p>
            <a:r>
              <a:rPr lang="en-US" sz="1200">
                <a:solidFill>
                  <a:srgbClr val="17202A"/>
                </a:solidFill>
              </a:rPr>
              <a:t xml:space="preserve">- Trusted-person control</a:t>
            </a:r>
          </a:p>
        </p:txBody>
      </p:sp>
      <p:sp>
        <p:nvSpPr>
          <p:cNvPr id="9" name="TextBox 9"/>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Final project vision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Smart Health 360 - Project Flow</a:t>
            </a:r>
          </a:p>
          <a:p>
            <a:r>
              <a:rPr lang="en-US" sz="800">
                <a:solidFill>
                  <a:srgbClr val="17202A"/>
                </a:solidFill>
              </a:rPr>
              <a:t xml:space="preserve"/>
            </a:r>
          </a:p>
          <a:p>
            <a:r>
              <a:rPr lang="en-US" sz="800">
                <a:solidFill>
                  <a:srgbClr val="17202A"/>
                </a:solidFill>
              </a:rPr>
              <a:t xml:space="preserve">This document explains the Smart Health 360 project flow from patient entry to doctor consultation, record storage, visibility control, audit handling, and future workflow plans.</a:t>
            </a:r>
          </a:p>
          <a:p>
            <a:r>
              <a:rPr lang="en-US" sz="800">
                <a:solidFill>
                  <a:srgbClr val="17202A"/>
                </a:solidFill>
              </a:rPr>
              <a:t xml:space="preserve"/>
            </a:r>
          </a:p>
          <a:p>
            <a:r>
              <a:rPr lang="en-US" sz="800">
                <a:solidFill>
                  <a:srgbClr val="17202A"/>
                </a:solidFill>
              </a:rPr>
              <a:t xml:space="preserve">The application is currently built for three main users:</a:t>
            </a:r>
          </a:p>
          <a:p>
            <a:r>
              <a:rPr lang="en-US" sz="800">
                <a:solidFill>
                  <a:srgbClr val="17202A"/>
                </a:solidFill>
              </a:rPr>
              <a:t xml:space="preserve"/>
            </a:r>
          </a:p>
          <a:p>
            <a:r>
              <a:rPr lang="en-US" sz="800">
                <a:solidFill>
                  <a:srgbClr val="17202A"/>
                </a:solidFill>
              </a:rPr>
              <a:t xml:space="preserve">- **Super Admin (SA)**: hospital owner/admin/trusted head person who controls users, clinics, audit, and high-level permissions.</a:t>
            </a:r>
          </a:p>
          <a:p>
            <a:r>
              <a:rPr lang="en-US" sz="800">
                <a:solidFill>
                  <a:srgbClr val="17202A"/>
                </a:solidFill>
              </a:rPr>
              <a:t xml:space="preserve">- **Doctor**: sees assigned patients, patient history, records, prescriptions, medicines, reports, and waiting-room flow.</a:t>
            </a:r>
          </a:p>
          <a:p>
            <a:r>
              <a:rPr lang="en-US" sz="800">
                <a:solidFill>
                  <a:srgbClr val="17202A"/>
                </a:solidFill>
              </a:rPr>
              <a:t xml:space="preserve">- **Receptionist**: registers patients, assigns doctor, manages queue-related patient entry, enters prescription/supporting data where allowed, and helps operate the hospital front desk.</a:t>
            </a:r>
          </a:p>
          <a:p>
            <a:r>
              <a:rPr lang="en-US" sz="800">
                <a:solidFill>
                  <a:srgbClr val="17202A"/>
                </a:solidFill>
              </a:rPr>
              <a:t xml:space="preserve"/>
            </a:r>
          </a:p>
          <a:p>
            <a:r>
              <a:rPr lang="en-US" sz="800">
                <a:solidFill>
                  <a:srgbClr val="17202A"/>
                </a:solidFill>
              </a:rPr>
              <a:t xml:space="preserve">The main business idea is that the hospital can run normal digital patient management while also controlling which patient records are visible as normal records and which records are treated as incognito records using `VIS_A` and `VIS_B`.</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 One-Line Project Summary</a:t>
            </a:r>
          </a:p>
          <a:p>
            <a:r>
              <a:rPr lang="en-US" sz="800">
                <a:solidFill>
                  <a:srgbClr val="17202A"/>
                </a:solidFill>
              </a:rPr>
              <a:t xml:space="preserve"/>
            </a:r>
          </a:p>
          <a:p>
            <a:r>
              <a:rPr lang="en-US" sz="800">
                <a:solidFill>
                  <a:srgbClr val="17202A"/>
                </a:solidFill>
              </a:rPr>
              <a:t xml:space="preserve">Smart Health 360 is a hospital workflow system where the receptionist registers the patient, the doctor sees the patient digitally, records and prescriptions are maintained in one place, and the hospital can mark selected patient data as normal (`VIS_A`) or incognito (`VIS_B`) based on internal trust and audit requirements.</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2. Simple Real-World Story</a:t>
            </a:r>
          </a:p>
          <a:p>
            <a:r>
              <a:rPr lang="en-US" sz="800">
                <a:solidFill>
                  <a:srgbClr val="17202A"/>
                </a:solidFill>
              </a:rPr>
              <a:t xml:space="preserve"/>
            </a:r>
          </a:p>
          <a:p>
            <a:r>
              <a:rPr lang="en-US" sz="800">
                <a:solidFill>
                  <a:srgbClr val="17202A"/>
                </a:solidFill>
              </a:rPr>
              <a:t xml:space="preserve">Imagine a patient named **Ramesh Kumar** walks into the hospital.</a:t>
            </a:r>
          </a:p>
          <a:p>
            <a:r>
              <a:rPr lang="en-US" sz="800">
                <a:solidFill>
                  <a:srgbClr val="17202A"/>
                </a:solidFill>
              </a:rPr>
              <a:t xml:space="preserve"/>
            </a:r>
          </a:p>
          <a:p>
            <a:r>
              <a:rPr lang="en-US" sz="800">
                <a:solidFill>
                  <a:srgbClr val="17202A"/>
                </a:solidFill>
              </a:rPr>
              <a:t xml:space="preserve">1. Ramesh reaches the reception.</a:t>
            </a:r>
          </a:p>
          <a:p>
            <a:r>
              <a:rPr lang="en-US" sz="800">
                <a:solidFill>
                  <a:srgbClr val="17202A"/>
                </a:solidFill>
              </a:rPr>
              <a:t xml:space="preserve">2. Receptionist registers Ramesh in the system.</a:t>
            </a:r>
          </a:p>
          <a:p>
            <a:r>
              <a:rPr lang="en-US" sz="800">
                <a:solidFill>
                  <a:srgbClr val="17202A"/>
                </a:solidFill>
              </a:rPr>
              <a:t xml:space="preserve">3. Receptionist assigns Ramesh to **Dr. Arjun**.</a:t>
            </a:r>
          </a:p>
          <a:p>
            <a:r>
              <a:rPr lang="en-US" sz="800">
                <a:solidFill>
                  <a:srgbClr val="17202A"/>
                </a:solidFill>
              </a:rPr>
              <a:t xml:space="preserve">4. Ramesh appears in the doctor's patient list or waiting-room screen.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(2/22)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5. Doctor opens Ramesh's profile and sees:</a:t>
            </a:r>
          </a:p>
          <a:p>
            <a:r>
              <a:rPr lang="en-US" sz="800">
                <a:solidFill>
                  <a:srgbClr val="17202A"/>
                </a:solidFill>
              </a:rPr>
              <a:t xml:space="preserve">   - basic details,</a:t>
            </a:r>
          </a:p>
          <a:p>
            <a:r>
              <a:rPr lang="en-US" sz="800">
                <a:solidFill>
                  <a:srgbClr val="17202A"/>
                </a:solidFill>
              </a:rPr>
              <a:t xml:space="preserve">   - previous visits,</a:t>
            </a:r>
          </a:p>
          <a:p>
            <a:r>
              <a:rPr lang="en-US" sz="800">
                <a:solidFill>
                  <a:srgbClr val="17202A"/>
                </a:solidFill>
              </a:rPr>
              <a:t xml:space="preserve">   - diagnosis history,</a:t>
            </a:r>
          </a:p>
          <a:p>
            <a:r>
              <a:rPr lang="en-US" sz="800">
                <a:solidFill>
                  <a:srgbClr val="17202A"/>
                </a:solidFill>
              </a:rPr>
              <a:t xml:space="preserve">   - prescription history,</a:t>
            </a:r>
          </a:p>
          <a:p>
            <a:r>
              <a:rPr lang="en-US" sz="800">
                <a:solidFill>
                  <a:srgbClr val="17202A"/>
                </a:solidFill>
              </a:rPr>
              <a:t xml:space="preserve">   - medicine history,</a:t>
            </a:r>
          </a:p>
          <a:p>
            <a:r>
              <a:rPr lang="en-US" sz="800">
                <a:solidFill>
                  <a:srgbClr val="17202A"/>
                </a:solidFill>
              </a:rPr>
              <a:t xml:space="preserve">   - X-ray or lab attachments,</a:t>
            </a:r>
          </a:p>
          <a:p>
            <a:r>
              <a:rPr lang="en-US" sz="800">
                <a:solidFill>
                  <a:srgbClr val="17202A"/>
                </a:solidFill>
              </a:rPr>
              <a:t xml:space="preserve">   - current visit notes.</a:t>
            </a:r>
          </a:p>
          <a:p>
            <a:r>
              <a:rPr lang="en-US" sz="800">
                <a:solidFill>
                  <a:srgbClr val="17202A"/>
                </a:solidFill>
              </a:rPr>
              <a:t xml:space="preserve">6. Doctor completes consultation and adds the medical record or prescription.</a:t>
            </a:r>
          </a:p>
          <a:p>
            <a:r>
              <a:rPr lang="en-US" sz="800">
                <a:solidFill>
                  <a:srgbClr val="17202A"/>
                </a:solidFill>
              </a:rPr>
              <a:t xml:space="preserve">7. The record is saved as either:</a:t>
            </a:r>
          </a:p>
          <a:p>
            <a:r>
              <a:rPr lang="en-US" sz="800">
                <a:solidFill>
                  <a:srgbClr val="17202A"/>
                </a:solidFill>
              </a:rPr>
              <a:t xml:space="preserve">   - `VIS_A`: normal visible hospital record,</a:t>
            </a:r>
          </a:p>
          <a:p>
            <a:r>
              <a:rPr lang="en-US" sz="800">
                <a:solidFill>
                  <a:srgbClr val="17202A"/>
                </a:solidFill>
              </a:rPr>
              <a:t xml:space="preserve">   - `VIS_B`: incognito/sensitive record.</a:t>
            </a:r>
          </a:p>
          <a:p>
            <a:r>
              <a:rPr lang="en-US" sz="800">
                <a:solidFill>
                  <a:srgbClr val="17202A"/>
                </a:solidFill>
              </a:rPr>
              <a:t xml:space="preserve">8. If required later, an authorized person can change the record from `VIS_A` to `VIS_B`, or from `VIS_B` back to `VIS_A`.</a:t>
            </a:r>
          </a:p>
          <a:p>
            <a:r>
              <a:rPr lang="en-US" sz="800">
                <a:solidFill>
                  <a:srgbClr val="17202A"/>
                </a:solidFill>
              </a:rPr>
              <a:t xml:space="preserve">9. During audit/inspection mode, `VIS_B` data can be hidden from normal views and exports, while `VIS_A` data remains visible.</a:t>
            </a:r>
          </a:p>
          <a:p>
            <a:r>
              <a:rPr lang="en-US" sz="800">
                <a:solidFill>
                  <a:srgbClr val="17202A"/>
                </a:solidFill>
              </a:rPr>
              <a:t xml:space="preserve"/>
            </a:r>
          </a:p>
          <a:p>
            <a:r>
              <a:rPr lang="en-US" sz="800">
                <a:solidFill>
                  <a:srgbClr val="17202A"/>
                </a:solidFill>
              </a:rPr>
              <a:t xml:space="preserve">So the hospital gets a digital system for daily work plus controlled visibility for sensitive records.</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3. Main Actors And Their Work</a:t>
            </a:r>
          </a:p>
          <a:p>
            <a:r>
              <a:rPr lang="en-US" sz="800">
                <a:solidFill>
                  <a:srgbClr val="17202A"/>
                </a:solidFill>
              </a:rPr>
              <a:t xml:space="preserve"/>
            </a:r>
          </a:p>
          <a:p>
            <a:r>
              <a:rPr lang="en-US" sz="800">
                <a:solidFill>
                  <a:srgbClr val="17202A"/>
                </a:solidFill>
              </a:rPr>
              <a:t xml:space="preserve">### 3.1 Receptionist</a:t>
            </a:r>
          </a:p>
          <a:p>
            <a:r>
              <a:rPr lang="en-US" sz="800">
                <a:solidFill>
                  <a:srgbClr val="17202A"/>
                </a:solidFill>
              </a:rPr>
              <a:t xml:space="preserve"/>
            </a:r>
          </a:p>
          <a:p>
            <a:r>
              <a:rPr lang="en-US" sz="800">
                <a:solidFill>
                  <a:srgbClr val="17202A"/>
                </a:solidFill>
              </a:rPr>
              <a:t xml:space="preserve">The receptionist is the front-desk operator.</a:t>
            </a:r>
          </a:p>
          <a:p>
            <a:r>
              <a:rPr lang="en-US" sz="800">
                <a:solidFill>
                  <a:srgbClr val="17202A"/>
                </a:solidFill>
              </a:rPr>
              <a:t xml:space="preserve"/>
            </a:r>
          </a:p>
          <a:p>
            <a:r>
              <a:rPr lang="en-US" sz="800">
                <a:solidFill>
                  <a:srgbClr val="17202A"/>
                </a:solidFill>
              </a:rPr>
              <a:t xml:space="preserve">Main responsibilities:</a:t>
            </a:r>
          </a:p>
          <a:p>
            <a:r>
              <a:rPr lang="en-US" sz="800">
                <a:solidFill>
                  <a:srgbClr val="17202A"/>
                </a:solidFill>
              </a:rPr>
              <a:t xml:space="preserve"/>
            </a:r>
          </a:p>
          <a:p>
            <a:r>
              <a:rPr lang="en-US" sz="800">
                <a:solidFill>
                  <a:srgbClr val="17202A"/>
                </a:solidFill>
              </a:rPr>
              <a:t xml:space="preserve">- Register new patients.</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(3/22)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Search existing patients.</a:t>
            </a:r>
          </a:p>
          <a:p>
            <a:r>
              <a:rPr lang="en-US" sz="800">
                <a:solidFill>
                  <a:srgbClr val="17202A"/>
                </a:solidFill>
              </a:rPr>
              <a:t xml:space="preserve">- Assign each patient to a doctor.</a:t>
            </a:r>
          </a:p>
          <a:p>
            <a:r>
              <a:rPr lang="en-US" sz="800">
                <a:solidFill>
                  <a:srgbClr val="17202A"/>
                </a:solidFill>
              </a:rPr>
              <a:t xml:space="preserve">- Maintain basic patient information.</a:t>
            </a:r>
          </a:p>
          <a:p>
            <a:r>
              <a:rPr lang="en-US" sz="800">
                <a:solidFill>
                  <a:srgbClr val="17202A"/>
                </a:solidFill>
              </a:rPr>
              <a:t xml:space="preserve">- Add visit support data where allowed.</a:t>
            </a:r>
          </a:p>
          <a:p>
            <a:r>
              <a:rPr lang="en-US" sz="800">
                <a:solidFill>
                  <a:srgbClr val="17202A"/>
                </a:solidFill>
              </a:rPr>
              <a:t xml:space="preserve">- Add medicine/X-ray attachment links or reports where allowed.</a:t>
            </a:r>
          </a:p>
          <a:p>
            <a:r>
              <a:rPr lang="en-US" sz="800">
                <a:solidFill>
                  <a:srgbClr val="17202A"/>
                </a:solidFill>
              </a:rPr>
              <a:t xml:space="preserve">- Help create a digital waiting-room flow.</a:t>
            </a:r>
          </a:p>
          <a:p>
            <a:r>
              <a:rPr lang="en-US" sz="800">
                <a:solidFill>
                  <a:srgbClr val="17202A"/>
                </a:solidFill>
              </a:rPr>
              <a:t xml:space="preserve">- View patient records based on system permission.</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Ramesh comes to the hospital for fever. The receptionist creates his patient profile, enters mobile number, age/date of birth, gender, and assigns him to Dr. Arjun. Ramesh now appears in the system instead of being managed only on paper.</a:t>
            </a:r>
          </a:p>
          <a:p>
            <a:r>
              <a:rPr lang="en-US" sz="800">
                <a:solidFill>
                  <a:srgbClr val="17202A"/>
                </a:solidFill>
              </a:rPr>
              <a:t xml:space="preserve"/>
            </a:r>
          </a:p>
          <a:p>
            <a:r>
              <a:rPr lang="en-US" sz="800">
                <a:solidFill>
                  <a:srgbClr val="17202A"/>
                </a:solidFill>
              </a:rPr>
              <a:t xml:space="preserve">### 3.2 Doctor</a:t>
            </a:r>
          </a:p>
          <a:p>
            <a:r>
              <a:rPr lang="en-US" sz="800">
                <a:solidFill>
                  <a:srgbClr val="17202A"/>
                </a:solidFill>
              </a:rPr>
              <a:t xml:space="preserve"/>
            </a:r>
          </a:p>
          <a:p>
            <a:r>
              <a:rPr lang="en-US" sz="800">
                <a:solidFill>
                  <a:srgbClr val="17202A"/>
                </a:solidFill>
              </a:rPr>
              <a:t xml:space="preserve">The doctor is the consultation user.</a:t>
            </a:r>
          </a:p>
          <a:p>
            <a:r>
              <a:rPr lang="en-US" sz="800">
                <a:solidFill>
                  <a:srgbClr val="17202A"/>
                </a:solidFill>
              </a:rPr>
              <a:t xml:space="preserve"/>
            </a:r>
          </a:p>
          <a:p>
            <a:r>
              <a:rPr lang="en-US" sz="800">
                <a:solidFill>
                  <a:srgbClr val="17202A"/>
                </a:solidFill>
              </a:rPr>
              <a:t xml:space="preserve">Main responsibilities:</a:t>
            </a:r>
          </a:p>
          <a:p>
            <a:r>
              <a:rPr lang="en-US" sz="800">
                <a:solidFill>
                  <a:srgbClr val="17202A"/>
                </a:solidFill>
              </a:rPr>
              <a:t xml:space="preserve"/>
            </a:r>
          </a:p>
          <a:p>
            <a:r>
              <a:rPr lang="en-US" sz="800">
                <a:solidFill>
                  <a:srgbClr val="17202A"/>
                </a:solidFill>
              </a:rPr>
              <a:t xml:space="preserve">- See assigned patients.</a:t>
            </a:r>
          </a:p>
          <a:p>
            <a:r>
              <a:rPr lang="en-US" sz="800">
                <a:solidFill>
                  <a:srgbClr val="17202A"/>
                </a:solidFill>
              </a:rPr>
              <a:t xml:space="preserve">- Open patient details before or during consultation.</a:t>
            </a:r>
          </a:p>
          <a:p>
            <a:r>
              <a:rPr lang="en-US" sz="800">
                <a:solidFill>
                  <a:srgbClr val="17202A"/>
                </a:solidFill>
              </a:rPr>
              <a:t xml:space="preserve">- Check previous visit history.</a:t>
            </a:r>
          </a:p>
          <a:p>
            <a:r>
              <a:rPr lang="en-US" sz="800">
                <a:solidFill>
                  <a:srgbClr val="17202A"/>
                </a:solidFill>
              </a:rPr>
              <a:t xml:space="preserve">- Check medicine and prescription history.</a:t>
            </a:r>
          </a:p>
          <a:p>
            <a:r>
              <a:rPr lang="en-US" sz="800">
                <a:solidFill>
                  <a:srgbClr val="17202A"/>
                </a:solidFill>
              </a:rPr>
              <a:t xml:space="preserve">- Add diagnosis, advice, prescription, and follow-up notes.</a:t>
            </a:r>
          </a:p>
          <a:p>
            <a:r>
              <a:rPr lang="en-US" sz="800">
                <a:solidFill>
                  <a:srgbClr val="17202A"/>
                </a:solidFill>
              </a:rPr>
              <a:t xml:space="preserve">- Approve or review prescription entries when needed.</a:t>
            </a:r>
          </a:p>
          <a:p>
            <a:r>
              <a:rPr lang="en-US" sz="800">
                <a:solidFill>
                  <a:srgbClr val="17202A"/>
                </a:solidFill>
              </a:rPr>
              <a:t xml:space="preserve">- Change record visibility when authorized.</a:t>
            </a:r>
          </a:p>
          <a:p>
            <a:r>
              <a:rPr lang="en-US" sz="800">
                <a:solidFill>
                  <a:srgbClr val="17202A"/>
                </a:solidFill>
              </a:rPr>
              <a:t xml:space="preserve">- Use the system as a digital patient screen and workflow tool.</a:t>
            </a:r>
          </a:p>
          <a:p>
            <a:r>
              <a:rPr lang="en-US" sz="800">
                <a:solidFill>
                  <a:srgbClr val="17202A"/>
                </a:solidFill>
              </a:rPr>
              <a:t xml:space="preserve"/>
            </a:r>
          </a:p>
          <a:p>
            <a:r>
              <a:rPr lang="en-US" sz="800">
                <a:solidFill>
                  <a:srgbClr val="17202A"/>
                </a:solidFill>
              </a:rPr>
              <a:t xml:space="preserve">Example:</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(4/22)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r>
          </a:p>
          <a:p>
            <a:r>
              <a:rPr lang="en-US" sz="800">
                <a:solidFill>
                  <a:srgbClr val="17202A"/>
                </a:solidFill>
              </a:rPr>
              <a:t xml:space="preserve">Dr. Arjun opens the waiting-room list and sees Ramesh is next. Before calling him inside, the doctor can open Ramesh's profile and see that he came two months ago for cough and was prescribed a medicine. This reduces repeated questions and helps treatment continuity.</a:t>
            </a:r>
          </a:p>
          <a:p>
            <a:r>
              <a:rPr lang="en-US" sz="800">
                <a:solidFill>
                  <a:srgbClr val="17202A"/>
                </a:solidFill>
              </a:rPr>
              <a:t xml:space="preserve"/>
            </a:r>
          </a:p>
          <a:p>
            <a:r>
              <a:rPr lang="en-US" sz="800">
                <a:solidFill>
                  <a:srgbClr val="17202A"/>
                </a:solidFill>
              </a:rPr>
              <a:t xml:space="preserve">### 3.3 Super Admin</a:t>
            </a:r>
          </a:p>
          <a:p>
            <a:r>
              <a:rPr lang="en-US" sz="800">
                <a:solidFill>
                  <a:srgbClr val="17202A"/>
                </a:solidFill>
              </a:rPr>
              <a:t xml:space="preserve"/>
            </a:r>
          </a:p>
          <a:p>
            <a:r>
              <a:rPr lang="en-US" sz="800">
                <a:solidFill>
                  <a:srgbClr val="17202A"/>
                </a:solidFill>
              </a:rPr>
              <a:t xml:space="preserve">The Super Admin is the highest-control role.</a:t>
            </a:r>
          </a:p>
          <a:p>
            <a:r>
              <a:rPr lang="en-US" sz="800">
                <a:solidFill>
                  <a:srgbClr val="17202A"/>
                </a:solidFill>
              </a:rPr>
              <a:t xml:space="preserve"/>
            </a:r>
          </a:p>
          <a:p>
            <a:r>
              <a:rPr lang="en-US" sz="800">
                <a:solidFill>
                  <a:srgbClr val="17202A"/>
                </a:solidFill>
              </a:rPr>
              <a:t xml:space="preserve">Main responsibilities:</a:t>
            </a:r>
          </a:p>
          <a:p>
            <a:r>
              <a:rPr lang="en-US" sz="800">
                <a:solidFill>
                  <a:srgbClr val="17202A"/>
                </a:solidFill>
              </a:rPr>
              <a:t xml:space="preserve"/>
            </a:r>
          </a:p>
          <a:p>
            <a:r>
              <a:rPr lang="en-US" sz="800">
                <a:solidFill>
                  <a:srgbClr val="17202A"/>
                </a:solidFill>
              </a:rPr>
              <a:t xml:space="preserve">- Create doctors and receptionists.</a:t>
            </a:r>
          </a:p>
          <a:p>
            <a:r>
              <a:rPr lang="en-US" sz="800">
                <a:solidFill>
                  <a:srgbClr val="17202A"/>
                </a:solidFill>
              </a:rPr>
              <a:t xml:space="preserve">- Manage hospital/clinic setup.</a:t>
            </a:r>
          </a:p>
          <a:p>
            <a:r>
              <a:rPr lang="en-US" sz="800">
                <a:solidFill>
                  <a:srgbClr val="17202A"/>
                </a:solidFill>
              </a:rPr>
              <a:t xml:space="preserve">- View broader patient and audit data.</a:t>
            </a:r>
          </a:p>
          <a:p>
            <a:r>
              <a:rPr lang="en-US" sz="800">
                <a:solidFill>
                  <a:srgbClr val="17202A"/>
                </a:solidFill>
              </a:rPr>
              <a:t xml:space="preserve">- Assign or change doctor mapping where allowed.</a:t>
            </a:r>
          </a:p>
          <a:p>
            <a:r>
              <a:rPr lang="en-US" sz="800">
                <a:solidFill>
                  <a:srgbClr val="17202A"/>
                </a:solidFill>
              </a:rPr>
              <a:t xml:space="preserve">- Monitor system activity.</a:t>
            </a:r>
          </a:p>
          <a:p>
            <a:r>
              <a:rPr lang="en-US" sz="800">
                <a:solidFill>
                  <a:srgbClr val="17202A"/>
                </a:solidFill>
              </a:rPr>
              <a:t xml:space="preserve">- Control emergency hide/restore features.</a:t>
            </a:r>
          </a:p>
          <a:p>
            <a:r>
              <a:rPr lang="en-US" sz="800">
                <a:solidFill>
                  <a:srgbClr val="17202A"/>
                </a:solidFill>
              </a:rPr>
              <a:t xml:space="preserve">- Handle trusted administrative operations.</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The hospital owner or trusted senior person creates a new doctor account, assigns staff to clinics, checks audit logs, and controls emergency incognito visibility when needed.</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4. VIS_A And VIS_B Explanation</a:t>
            </a:r>
          </a:p>
          <a:p>
            <a:r>
              <a:rPr lang="en-US" sz="800">
                <a:solidFill>
                  <a:srgbClr val="17202A"/>
                </a:solidFill>
              </a:rPr>
              <a:t xml:space="preserve"/>
            </a:r>
          </a:p>
          <a:p>
            <a:r>
              <a:rPr lang="en-US" sz="800">
                <a:solidFill>
                  <a:srgbClr val="17202A"/>
                </a:solidFill>
              </a:rPr>
              <a:t xml:space="preserve">The system uses two visibility levels:</a:t>
            </a:r>
          </a:p>
          <a:p>
            <a:r>
              <a:rPr lang="en-US" sz="800">
                <a:solidFill>
                  <a:srgbClr val="17202A"/>
                </a:solidFill>
              </a:rPr>
              <a:t xml:space="preserve"/>
            </a:r>
          </a:p>
          <a:p>
            <a:r>
              <a:rPr lang="en-US" sz="800">
                <a:solidFill>
                  <a:srgbClr val="17202A"/>
                </a:solidFill>
              </a:rPr>
              <a:t xml:space="preserve">| Term | Simple Meaning | Practical Meaning |</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(5/22)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a:t>
            </a:r>
          </a:p>
          <a:p>
            <a:r>
              <a:rPr lang="en-US" sz="800">
                <a:solidFill>
                  <a:srgbClr val="17202A"/>
                </a:solidFill>
              </a:rPr>
              <a:t xml:space="preserve">| `VIS_A` | Normal visible record | Regular patient record visible in normal hospital workflow and normal exports |</a:t>
            </a:r>
          </a:p>
          <a:p>
            <a:r>
              <a:rPr lang="en-US" sz="800">
                <a:solidFill>
                  <a:srgbClr val="17202A"/>
                </a:solidFill>
              </a:rPr>
              <a:t xml:space="preserve">| `VIS_B` | Incognito/sensitive record | Controlled record that can be hidden during inspection/audit mode and protected from normal export |</a:t>
            </a:r>
          </a:p>
          <a:p>
            <a:r>
              <a:rPr lang="en-US" sz="800">
                <a:solidFill>
                  <a:srgbClr val="17202A"/>
                </a:solidFill>
              </a:rPr>
              <a:t xml:space="preserve"/>
            </a:r>
          </a:p>
          <a:p>
            <a:r>
              <a:rPr lang="en-US" sz="800">
                <a:solidFill>
                  <a:srgbClr val="17202A"/>
                </a:solidFill>
              </a:rPr>
              <a:t xml:space="preserve">In discussions, these may be described as "normal/incognito" records. In the application and project documentation, the terms are `VIS_A` and `VIS_B`.</a:t>
            </a:r>
          </a:p>
          <a:p>
            <a:r>
              <a:rPr lang="en-US" sz="800">
                <a:solidFill>
                  <a:srgbClr val="17202A"/>
                </a:solidFill>
              </a:rPr>
              <a:t xml:space="preserve"/>
            </a:r>
          </a:p>
          <a:p>
            <a:r>
              <a:rPr lang="en-US" sz="800">
                <a:solidFill>
                  <a:srgbClr val="17202A"/>
                </a:solidFill>
              </a:rPr>
              <a:t xml:space="preserve">### 4.1 VIS_A Real Example</a:t>
            </a:r>
          </a:p>
          <a:p>
            <a:r>
              <a:rPr lang="en-US" sz="800">
                <a:solidFill>
                  <a:srgbClr val="17202A"/>
                </a:solidFill>
              </a:rPr>
              <a:t xml:space="preserve"/>
            </a:r>
          </a:p>
          <a:p>
            <a:r>
              <a:rPr lang="en-US" sz="800">
                <a:solidFill>
                  <a:srgbClr val="17202A"/>
                </a:solidFill>
              </a:rPr>
              <a:t xml:space="preserve">Patient: **Ramesh Kumar**  </a:t>
            </a:r>
          </a:p>
          <a:p>
            <a:r>
              <a:rPr lang="en-US" sz="800">
                <a:solidFill>
                  <a:srgbClr val="17202A"/>
                </a:solidFill>
              </a:rPr>
              <a:t xml:space="preserve">Visit reason: fever and cough  </a:t>
            </a:r>
          </a:p>
          <a:p>
            <a:r>
              <a:rPr lang="en-US" sz="800">
                <a:solidFill>
                  <a:srgbClr val="17202A"/>
                </a:solidFill>
              </a:rPr>
              <a:t xml:space="preserve">Doctor: Dr. Arjun  </a:t>
            </a:r>
          </a:p>
          <a:p>
            <a:r>
              <a:rPr lang="en-US" sz="800">
                <a:solidFill>
                  <a:srgbClr val="17202A"/>
                </a:solidFill>
              </a:rPr>
              <a:t xml:space="preserve">Record status: `VIS_A`</a:t>
            </a:r>
          </a:p>
          <a:p>
            <a:r>
              <a:rPr lang="en-US" sz="800">
                <a:solidFill>
                  <a:srgbClr val="17202A"/>
                </a:solidFill>
              </a:rPr>
              <a:t xml:space="preserve"/>
            </a:r>
          </a:p>
          <a:p>
            <a:r>
              <a:rPr lang="en-US" sz="800">
                <a:solidFill>
                  <a:srgbClr val="17202A"/>
                </a:solidFill>
              </a:rPr>
              <a:t xml:space="preserve">This means:</a:t>
            </a:r>
          </a:p>
          <a:p>
            <a:r>
              <a:rPr lang="en-US" sz="800">
                <a:solidFill>
                  <a:srgbClr val="17202A"/>
                </a:solidFill>
              </a:rPr>
              <a:t xml:space="preserve"/>
            </a:r>
          </a:p>
          <a:p>
            <a:r>
              <a:rPr lang="en-US" sz="800">
                <a:solidFill>
                  <a:srgbClr val="17202A"/>
                </a:solidFill>
              </a:rPr>
              <a:t xml:space="preserve">- It is a normal hospital record.</a:t>
            </a:r>
          </a:p>
          <a:p>
            <a:r>
              <a:rPr lang="en-US" sz="800">
                <a:solidFill>
                  <a:srgbClr val="17202A"/>
                </a:solidFill>
              </a:rPr>
              <a:t xml:space="preserve">- Doctor can see it.</a:t>
            </a:r>
          </a:p>
          <a:p>
            <a:r>
              <a:rPr lang="en-US" sz="800">
                <a:solidFill>
                  <a:srgbClr val="17202A"/>
                </a:solidFill>
              </a:rPr>
              <a:t xml:space="preserve">- Reception/front desk can see it based on permission.</a:t>
            </a:r>
          </a:p>
          <a:p>
            <a:r>
              <a:rPr lang="en-US" sz="800">
                <a:solidFill>
                  <a:srgbClr val="17202A"/>
                </a:solidFill>
              </a:rPr>
              <a:t xml:space="preserve">- It can appear in standard patient history.</a:t>
            </a:r>
          </a:p>
          <a:p>
            <a:r>
              <a:rPr lang="en-US" sz="800">
                <a:solidFill>
                  <a:srgbClr val="17202A"/>
                </a:solidFill>
              </a:rPr>
              <a:t xml:space="preserve">- It can be included in normal reports/exports based on role.</a:t>
            </a:r>
          </a:p>
          <a:p>
            <a:r>
              <a:rPr lang="en-US" sz="800">
                <a:solidFill>
                  <a:srgbClr val="17202A"/>
                </a:solidFill>
              </a:rPr>
              <a:t xml:space="preserve"/>
            </a:r>
          </a:p>
          <a:p>
            <a:r>
              <a:rPr lang="en-US" sz="800">
                <a:solidFill>
                  <a:srgbClr val="17202A"/>
                </a:solidFill>
              </a:rPr>
              <a:t xml:space="preserve">This is suitable for regular outpatient treatment history.</a:t>
            </a:r>
          </a:p>
          <a:p>
            <a:r>
              <a:rPr lang="en-US" sz="800">
                <a:solidFill>
                  <a:srgbClr val="17202A"/>
                </a:solidFill>
              </a:rPr>
              <a:t xml:space="preserve"/>
            </a:r>
          </a:p>
          <a:p>
            <a:r>
              <a:rPr lang="en-US" sz="800">
                <a:solidFill>
                  <a:srgbClr val="17202A"/>
                </a:solidFill>
              </a:rPr>
              <a:t xml:space="preserve">### 4.2 VIS_B Real Example</a:t>
            </a:r>
          </a:p>
          <a:p>
            <a:r>
              <a:rPr lang="en-US" sz="800">
                <a:solidFill>
                  <a:srgbClr val="17202A"/>
                </a:solidFill>
              </a:rPr>
              <a:t xml:space="preserve"/>
            </a:r>
          </a:p>
          <a:p>
            <a:r>
              <a:rPr lang="en-US" sz="800">
                <a:solidFill>
                  <a:srgbClr val="17202A"/>
                </a:solidFill>
              </a:rPr>
              <a:t xml:space="preserve">Patient: **Suresh Reddy**  </a:t>
            </a:r>
          </a:p>
          <a:p>
            <a:r>
              <a:rPr lang="en-US" sz="800">
                <a:solidFill>
                  <a:srgbClr val="17202A"/>
                </a:solidFill>
              </a:rPr>
              <a:t xml:space="preserve">Visit reason: sensitive internal consultation  </a:t>
            </a:r>
          </a:p>
          <a:p>
            <a:r>
              <a:rPr lang="en-US" sz="800">
                <a:solidFill>
                  <a:srgbClr val="17202A"/>
                </a:solidFill>
              </a:rPr>
              <a:t xml:space="preserve">Doctor: Dr. Arjun  </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(6/22)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Record status: `VIS_B`</a:t>
            </a:r>
          </a:p>
          <a:p>
            <a:r>
              <a:rPr lang="en-US" sz="800">
                <a:solidFill>
                  <a:srgbClr val="17202A"/>
                </a:solidFill>
              </a:rPr>
              <a:t xml:space="preserve"/>
            </a:r>
          </a:p>
          <a:p>
            <a:r>
              <a:rPr lang="en-US" sz="800">
                <a:solidFill>
                  <a:srgbClr val="17202A"/>
                </a:solidFill>
              </a:rPr>
              <a:t xml:space="preserve">This means:</a:t>
            </a:r>
          </a:p>
          <a:p>
            <a:r>
              <a:rPr lang="en-US" sz="800">
                <a:solidFill>
                  <a:srgbClr val="17202A"/>
                </a:solidFill>
              </a:rPr>
              <a:t xml:space="preserve"/>
            </a:r>
          </a:p>
          <a:p>
            <a:r>
              <a:rPr lang="en-US" sz="800">
                <a:solidFill>
                  <a:srgbClr val="17202A"/>
                </a:solidFill>
              </a:rPr>
              <a:t xml:space="preserve">- It is stored in the system but treated as incognito/sensitive.</a:t>
            </a:r>
          </a:p>
          <a:p>
            <a:r>
              <a:rPr lang="en-US" sz="800">
                <a:solidFill>
                  <a:srgbClr val="17202A"/>
                </a:solidFill>
              </a:rPr>
              <a:t xml:space="preserve">- Authorized doctors/admins can see it when the system is in normal mode.</a:t>
            </a:r>
          </a:p>
          <a:p>
            <a:r>
              <a:rPr lang="en-US" sz="800">
                <a:solidFill>
                  <a:srgbClr val="17202A"/>
                </a:solidFill>
              </a:rPr>
              <a:t xml:space="preserve">- During audit/inspection mode, the system can hide this record from normal screens and exports.</a:t>
            </a:r>
          </a:p>
          <a:p>
            <a:r>
              <a:rPr lang="en-US" sz="800">
                <a:solidFill>
                  <a:srgbClr val="17202A"/>
                </a:solidFill>
              </a:rPr>
              <a:t xml:space="preserve">- It gives the hospital controlled visibility over sensitive patient entries.</a:t>
            </a:r>
          </a:p>
          <a:p>
            <a:r>
              <a:rPr lang="en-US" sz="800">
                <a:solidFill>
                  <a:srgbClr val="17202A"/>
                </a:solidFill>
              </a:rPr>
              <a:t xml:space="preserve"/>
            </a:r>
          </a:p>
          <a:p>
            <a:r>
              <a:rPr lang="en-US" sz="800">
                <a:solidFill>
                  <a:srgbClr val="17202A"/>
                </a:solidFill>
              </a:rPr>
              <a:t xml:space="preserve">This is suitable for records that the hospital wants to handle with extra discretion.</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5. Changing VIS_A To VIS_B And VIS_B To VIS_A</a:t>
            </a:r>
          </a:p>
          <a:p>
            <a:r>
              <a:rPr lang="en-US" sz="800">
                <a:solidFill>
                  <a:srgbClr val="17202A"/>
                </a:solidFill>
              </a:rPr>
              <a:t xml:space="preserve"/>
            </a:r>
          </a:p>
          <a:p>
            <a:r>
              <a:rPr lang="en-US" sz="800">
                <a:solidFill>
                  <a:srgbClr val="17202A"/>
                </a:solidFill>
              </a:rPr>
              <a:t xml:space="preserve">The system supports changing visibility during the patient lifecycle.</a:t>
            </a:r>
          </a:p>
          <a:p>
            <a:r>
              <a:rPr lang="en-US" sz="800">
                <a:solidFill>
                  <a:srgbClr val="17202A"/>
                </a:solidFill>
              </a:rPr>
              <a:t xml:space="preserve"/>
            </a:r>
          </a:p>
          <a:p>
            <a:r>
              <a:rPr lang="en-US" sz="800">
                <a:solidFill>
                  <a:srgbClr val="17202A"/>
                </a:solidFill>
              </a:rPr>
              <a:t xml:space="preserve">### 5.1 Normal To Incognito</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1. Ramesh is registered as a normal patient.</a:t>
            </a:r>
          </a:p>
          <a:p>
            <a:r>
              <a:rPr lang="en-US" sz="800">
                <a:solidFill>
                  <a:srgbClr val="17202A"/>
                </a:solidFill>
              </a:rPr>
              <a:t xml:space="preserve">2. His first visit is saved as `VIS_A`.</a:t>
            </a:r>
          </a:p>
          <a:p>
            <a:r>
              <a:rPr lang="en-US" sz="800">
                <a:solidFill>
                  <a:srgbClr val="17202A"/>
                </a:solidFill>
              </a:rPr>
              <a:t xml:space="preserve">3. Later, hospital decides this record should be treated as incognito.</a:t>
            </a:r>
          </a:p>
          <a:p>
            <a:r>
              <a:rPr lang="en-US" sz="800">
                <a:solidFill>
                  <a:srgbClr val="17202A"/>
                </a:solidFill>
              </a:rPr>
              <a:t xml:space="preserve">4. Authorized user changes the status from `VIS_A` to `VIS_B`.</a:t>
            </a:r>
          </a:p>
          <a:p>
            <a:r>
              <a:rPr lang="en-US" sz="800">
                <a:solidFill>
                  <a:srgbClr val="17202A"/>
                </a:solidFill>
              </a:rPr>
              <a:t xml:space="preserve">5. From that point, the record follows incognito visibility rules.</a:t>
            </a:r>
          </a:p>
          <a:p>
            <a:r>
              <a:rPr lang="en-US" sz="800">
                <a:solidFill>
                  <a:srgbClr val="17202A"/>
                </a:solidFill>
              </a:rPr>
              <a:t xml:space="preserve"/>
            </a:r>
          </a:p>
          <a:p>
            <a:r>
              <a:rPr lang="en-US" sz="800">
                <a:solidFill>
                  <a:srgbClr val="17202A"/>
                </a:solidFill>
              </a:rPr>
              <a:t xml:space="preserve">Result:</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(7/22)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r>
          </a:p>
          <a:p>
            <a:r>
              <a:rPr lang="en-US" sz="800">
                <a:solidFill>
                  <a:srgbClr val="17202A"/>
                </a:solidFill>
              </a:rPr>
              <a:t xml:space="preserve">The patient exists in the system, but that specific record becomes controlled/sensitive.</a:t>
            </a:r>
          </a:p>
          <a:p>
            <a:r>
              <a:rPr lang="en-US" sz="800">
                <a:solidFill>
                  <a:srgbClr val="17202A"/>
                </a:solidFill>
              </a:rPr>
              <a:t xml:space="preserve"/>
            </a:r>
          </a:p>
          <a:p>
            <a:r>
              <a:rPr lang="en-US" sz="800">
                <a:solidFill>
                  <a:srgbClr val="17202A"/>
                </a:solidFill>
              </a:rPr>
              <a:t xml:space="preserve">### 5.2 Incognito To Normal</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1. Suresh has a record saved as `VIS_B`.</a:t>
            </a:r>
          </a:p>
          <a:p>
            <a:r>
              <a:rPr lang="en-US" sz="800">
                <a:solidFill>
                  <a:srgbClr val="17202A"/>
                </a:solidFill>
              </a:rPr>
              <a:t xml:space="preserve">2. Later, hospital decides it can be part of normal history.</a:t>
            </a:r>
          </a:p>
          <a:p>
            <a:r>
              <a:rPr lang="en-US" sz="800">
                <a:solidFill>
                  <a:srgbClr val="17202A"/>
                </a:solidFill>
              </a:rPr>
              <a:t xml:space="preserve">3. Authorized user changes the status from `VIS_B` to `VIS_A`.</a:t>
            </a:r>
          </a:p>
          <a:p>
            <a:r>
              <a:rPr lang="en-US" sz="800">
                <a:solidFill>
                  <a:srgbClr val="17202A"/>
                </a:solidFill>
              </a:rPr>
              <a:t xml:space="preserve">4. The record returns to normal visible workflow.</a:t>
            </a:r>
          </a:p>
          <a:p>
            <a:r>
              <a:rPr lang="en-US" sz="800">
                <a:solidFill>
                  <a:srgbClr val="17202A"/>
                </a:solidFill>
              </a:rPr>
              <a:t xml:space="preserve"/>
            </a:r>
          </a:p>
          <a:p>
            <a:r>
              <a:rPr lang="en-US" sz="800">
                <a:solidFill>
                  <a:srgbClr val="17202A"/>
                </a:solidFill>
              </a:rPr>
              <a:t xml:space="preserve">Result:</a:t>
            </a:r>
          </a:p>
          <a:p>
            <a:r>
              <a:rPr lang="en-US" sz="800">
                <a:solidFill>
                  <a:srgbClr val="17202A"/>
                </a:solidFill>
              </a:rPr>
              <a:t xml:space="preserve"/>
            </a:r>
          </a:p>
          <a:p>
            <a:r>
              <a:rPr lang="en-US" sz="800">
                <a:solidFill>
                  <a:srgbClr val="17202A"/>
                </a:solidFill>
              </a:rPr>
              <a:t xml:space="preserve">The record becomes part of normal patient history and normal visibility rules again.</a:t>
            </a:r>
          </a:p>
          <a:p>
            <a:r>
              <a:rPr lang="en-US" sz="800">
                <a:solidFill>
                  <a:srgbClr val="17202A"/>
                </a:solidFill>
              </a:rPr>
              <a:t xml:space="preserve"/>
            </a:r>
          </a:p>
          <a:p>
            <a:r>
              <a:rPr lang="en-US" sz="800">
                <a:solidFill>
                  <a:srgbClr val="17202A"/>
                </a:solidFill>
              </a:rPr>
              <a:t xml:space="preserve">### 5.3 Why This Matters</a:t>
            </a:r>
          </a:p>
          <a:p>
            <a:r>
              <a:rPr lang="en-US" sz="800">
                <a:solidFill>
                  <a:srgbClr val="17202A"/>
                </a:solidFill>
              </a:rPr>
              <a:t xml:space="preserve"/>
            </a:r>
          </a:p>
          <a:p>
            <a:r>
              <a:rPr lang="en-US" sz="800">
                <a:solidFill>
                  <a:srgbClr val="17202A"/>
                </a:solidFill>
              </a:rPr>
              <a:t xml:space="preserve">Hospitals do not always know the final visibility requirement at the time of registration. Sometimes the decision happens later. The application supports this by allowing controlled movement between `VIS_A` and `VIS_B`, with audit tracking.</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6. Complete Start-To-End Flow</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Patient arrives</a:t>
            </a:r>
          </a:p>
          <a:p>
            <a:r>
              <a:rPr lang="en-US" sz="800">
                <a:solidFill>
                  <a:srgbClr val="17202A"/>
                </a:solidFill>
              </a:rPr>
              <a:t xml:space="preserve">    |</a:t>
            </a:r>
          </a:p>
          <a:p>
            <a:r>
              <a:rPr lang="en-US" sz="800">
                <a:solidFill>
                  <a:srgbClr val="17202A"/>
                </a:solidFill>
              </a:rPr>
              <a:t xml:space="preserve">    v</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(8/22)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Receptionist searches existing patient or creates new patient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Receptionist assigns doctor</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Patient appears in doctor's workflow / waiting-room list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Doctor opens patient details</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Doctor checks previous records, medicines, prescriptions, reports</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Doctor consults patient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Record / prescription / attachment is saved</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Record is marked VIS_A or VIS_B</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Hospital continues normal treatment history</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If audit/inspection mode is needed, VIS_B data can be hidden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(9/22)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After audit/inspection, VIS_B data can be restored</a:t>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7. Role-Based Flow Tree</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Smart Health 360</a:t>
            </a:r>
          </a:p>
          <a:p>
            <a:r>
              <a:rPr lang="en-US" sz="800">
                <a:solidFill>
                  <a:srgbClr val="17202A"/>
                </a:solidFill>
              </a:rPr>
              <a:t xml:space="preserve">|</a:t>
            </a:r>
          </a:p>
          <a:p>
            <a:r>
              <a:rPr lang="en-US" sz="800">
                <a:solidFill>
                  <a:srgbClr val="17202A"/>
                </a:solidFill>
              </a:rPr>
              <a:t xml:space="preserve">+-- Super Admin</a:t>
            </a:r>
          </a:p>
          <a:p>
            <a:r>
              <a:rPr lang="en-US" sz="800">
                <a:solidFill>
                  <a:srgbClr val="17202A"/>
                </a:solidFill>
              </a:rPr>
              <a:t xml:space="preserve">|   |</a:t>
            </a:r>
          </a:p>
          <a:p>
            <a:r>
              <a:rPr lang="en-US" sz="800">
                <a:solidFill>
                  <a:srgbClr val="17202A"/>
                </a:solidFill>
              </a:rPr>
              <a:t xml:space="preserve">|   +-- Creates doctors and receptionists</a:t>
            </a:r>
          </a:p>
          <a:p>
            <a:r>
              <a:rPr lang="en-US" sz="800">
                <a:solidFill>
                  <a:srgbClr val="17202A"/>
                </a:solidFill>
              </a:rPr>
              <a:t xml:space="preserve">|   +-- Manages clinics / areas / hierarchy</a:t>
            </a:r>
          </a:p>
          <a:p>
            <a:r>
              <a:rPr lang="en-US" sz="800">
                <a:solidFill>
                  <a:srgbClr val="17202A"/>
                </a:solidFill>
              </a:rPr>
              <a:t xml:space="preserve">|   +-- Views audit logs</a:t>
            </a:r>
          </a:p>
          <a:p>
            <a:r>
              <a:rPr lang="en-US" sz="800">
                <a:solidFill>
                  <a:srgbClr val="17202A"/>
                </a:solidFill>
              </a:rPr>
              <a:t xml:space="preserve">|   +-- Controls emergency hide / restore</a:t>
            </a:r>
          </a:p>
          <a:p>
            <a:r>
              <a:rPr lang="en-US" sz="800">
                <a:solidFill>
                  <a:srgbClr val="17202A"/>
                </a:solidFill>
              </a:rPr>
              <a:t xml:space="preserve">|   +-- Can view/manage broader patient data</a:t>
            </a:r>
          </a:p>
          <a:p>
            <a:r>
              <a:rPr lang="en-US" sz="800">
                <a:solidFill>
                  <a:srgbClr val="17202A"/>
                </a:solidFill>
              </a:rPr>
              <a:t xml:space="preserve">|</a:t>
            </a:r>
          </a:p>
          <a:p>
            <a:r>
              <a:rPr lang="en-US" sz="800">
                <a:solidFill>
                  <a:srgbClr val="17202A"/>
                </a:solidFill>
              </a:rPr>
              <a:t xml:space="preserve">+-- Receptionist</a:t>
            </a:r>
          </a:p>
          <a:p>
            <a:r>
              <a:rPr lang="en-US" sz="800">
                <a:solidFill>
                  <a:srgbClr val="17202A"/>
                </a:solidFill>
              </a:rPr>
              <a:t xml:space="preserve">|   |</a:t>
            </a:r>
          </a:p>
          <a:p>
            <a:r>
              <a:rPr lang="en-US" sz="800">
                <a:solidFill>
                  <a:srgbClr val="17202A"/>
                </a:solidFill>
              </a:rPr>
              <a:t xml:space="preserve">|   +-- Registers patient</a:t>
            </a:r>
          </a:p>
          <a:p>
            <a:r>
              <a:rPr lang="en-US" sz="800">
                <a:solidFill>
                  <a:srgbClr val="17202A"/>
                </a:solidFill>
              </a:rPr>
              <a:t xml:space="preserve">|   +-- Assigns doctor</a:t>
            </a:r>
          </a:p>
          <a:p>
            <a:r>
              <a:rPr lang="en-US" sz="800">
                <a:solidFill>
                  <a:srgbClr val="17202A"/>
                </a:solidFill>
              </a:rPr>
              <a:t xml:space="preserve">|   +-- Updates patient demographic details</a:t>
            </a:r>
          </a:p>
          <a:p>
            <a:r>
              <a:rPr lang="en-US" sz="800">
                <a:solidFill>
                  <a:srgbClr val="17202A"/>
                </a:solidFill>
              </a:rPr>
              <a:t xml:space="preserve">|   +-- Adds visit support details where allowed</a:t>
            </a:r>
          </a:p>
          <a:p>
            <a:r>
              <a:rPr lang="en-US" sz="800">
                <a:solidFill>
                  <a:srgbClr val="17202A"/>
                </a:solidFill>
              </a:rPr>
              <a:t xml:space="preserve">|   +-- Adds medicine/X-ray attachment data where allowed</a:t>
            </a:r>
          </a:p>
          <a:p>
            <a:r>
              <a:rPr lang="en-US" sz="800">
                <a:solidFill>
                  <a:srgbClr val="17202A"/>
                </a:solidFill>
              </a:rPr>
              <a:t xml:space="preserve">|   +-- Helps operate waiting-room flow</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(10/22)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a:t>
            </a:r>
          </a:p>
          <a:p>
            <a:r>
              <a:rPr lang="en-US" sz="800">
                <a:solidFill>
                  <a:srgbClr val="17202A"/>
                </a:solidFill>
              </a:rPr>
              <a:t xml:space="preserve">+-- Doctor</a:t>
            </a:r>
          </a:p>
          <a:p>
            <a:r>
              <a:rPr lang="en-US" sz="800">
                <a:solidFill>
                  <a:srgbClr val="17202A"/>
                </a:solidFill>
              </a:rPr>
              <a:t xml:space="preserve">    |</a:t>
            </a:r>
          </a:p>
          <a:p>
            <a:r>
              <a:rPr lang="en-US" sz="800">
                <a:solidFill>
                  <a:srgbClr val="17202A"/>
                </a:solidFill>
              </a:rPr>
              <a:t xml:space="preserve">    +-- Sees assigned patients</a:t>
            </a:r>
          </a:p>
          <a:p>
            <a:r>
              <a:rPr lang="en-US" sz="800">
                <a:solidFill>
                  <a:srgbClr val="17202A"/>
                </a:solidFill>
              </a:rPr>
              <a:t xml:space="preserve">    +-- Opens patient profile</a:t>
            </a:r>
          </a:p>
          <a:p>
            <a:r>
              <a:rPr lang="en-US" sz="800">
                <a:solidFill>
                  <a:srgbClr val="17202A"/>
                </a:solidFill>
              </a:rPr>
              <a:t xml:space="preserve">    +-- Reads visit history</a:t>
            </a:r>
          </a:p>
          <a:p>
            <a:r>
              <a:rPr lang="en-US" sz="800">
                <a:solidFill>
                  <a:srgbClr val="17202A"/>
                </a:solidFill>
              </a:rPr>
              <a:t xml:space="preserve">    +-- Reads medicine and prescription history</a:t>
            </a:r>
          </a:p>
          <a:p>
            <a:r>
              <a:rPr lang="en-US" sz="800">
                <a:solidFill>
                  <a:srgbClr val="17202A"/>
                </a:solidFill>
              </a:rPr>
              <a:t xml:space="preserve">    +-- Adds diagnosis and prescription</a:t>
            </a:r>
          </a:p>
          <a:p>
            <a:r>
              <a:rPr lang="en-US" sz="800">
                <a:solidFill>
                  <a:srgbClr val="17202A"/>
                </a:solidFill>
              </a:rPr>
              <a:t xml:space="preserve">    +-- Approves/reviews medical entries</a:t>
            </a:r>
          </a:p>
          <a:p>
            <a:r>
              <a:rPr lang="en-US" sz="800">
                <a:solidFill>
                  <a:srgbClr val="17202A"/>
                </a:solidFill>
              </a:rPr>
              <a:t xml:space="preserve">    +-- Uses VIS_A / VIS_B visibility where authorized</a:t>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8. Doctor Consultation Flow In Detail</a:t>
            </a:r>
          </a:p>
          <a:p>
            <a:r>
              <a:rPr lang="en-US" sz="800">
                <a:solidFill>
                  <a:srgbClr val="17202A"/>
                </a:solidFill>
              </a:rPr>
              <a:t xml:space="preserve"/>
            </a:r>
          </a:p>
          <a:p>
            <a:r>
              <a:rPr lang="en-US" sz="800">
                <a:solidFill>
                  <a:srgbClr val="17202A"/>
                </a:solidFill>
              </a:rPr>
              <a:t xml:space="preserve">### Step 1: Doctor Logs In</a:t>
            </a:r>
          </a:p>
          <a:p>
            <a:r>
              <a:rPr lang="en-US" sz="800">
                <a:solidFill>
                  <a:srgbClr val="17202A"/>
                </a:solidFill>
              </a:rPr>
              <a:t xml:space="preserve"/>
            </a:r>
          </a:p>
          <a:p>
            <a:r>
              <a:rPr lang="en-US" sz="800">
                <a:solidFill>
                  <a:srgbClr val="17202A"/>
                </a:solidFill>
              </a:rPr>
              <a:t xml:space="preserve">Doctor opens the portal and logs in with their email and password.</a:t>
            </a:r>
          </a:p>
          <a:p>
            <a:r>
              <a:rPr lang="en-US" sz="800">
                <a:solidFill>
                  <a:srgbClr val="17202A"/>
                </a:solidFill>
              </a:rPr>
              <a:t xml:space="preserve"/>
            </a:r>
          </a:p>
          <a:p>
            <a:r>
              <a:rPr lang="en-US" sz="800">
                <a:solidFill>
                  <a:srgbClr val="17202A"/>
                </a:solidFill>
              </a:rPr>
              <a:t xml:space="preserve">After login, the doctor sees their own dashboard, not the receptionist or admin dashboard.</a:t>
            </a:r>
          </a:p>
          <a:p>
            <a:r>
              <a:rPr lang="en-US" sz="800">
                <a:solidFill>
                  <a:srgbClr val="17202A"/>
                </a:solidFill>
              </a:rPr>
              <a:t xml:space="preserve"/>
            </a:r>
          </a:p>
          <a:p>
            <a:r>
              <a:rPr lang="en-US" sz="800">
                <a:solidFill>
                  <a:srgbClr val="17202A"/>
                </a:solidFill>
              </a:rPr>
              <a:t xml:space="preserve">### Step 2: Doctor Sees Patient Queue / Patient List</a:t>
            </a:r>
          </a:p>
          <a:p>
            <a:r>
              <a:rPr lang="en-US" sz="800">
                <a:solidFill>
                  <a:srgbClr val="17202A"/>
                </a:solidFill>
              </a:rPr>
              <a:t xml:space="preserve"/>
            </a:r>
          </a:p>
          <a:p>
            <a:r>
              <a:rPr lang="en-US" sz="800">
                <a:solidFill>
                  <a:srgbClr val="17202A"/>
                </a:solidFill>
              </a:rPr>
              <a:t xml:space="preserve">The doctor sees patients assigned to them.</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(11/22)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Queue No | Patient | Reason | Assigned Doctor | Status |</a:t>
            </a:r>
          </a:p>
          <a:p>
            <a:r>
              <a:rPr lang="en-US" sz="800">
                <a:solidFill>
                  <a:srgbClr val="17202A"/>
                </a:solidFill>
              </a:rPr>
              <a:t xml:space="preserve">|----------|---------|--------|-----------------|--------|</a:t>
            </a:r>
          </a:p>
          <a:p>
            <a:r>
              <a:rPr lang="en-US" sz="800">
                <a:solidFill>
                  <a:srgbClr val="17202A"/>
                </a:solidFill>
              </a:rPr>
              <a:t xml:space="preserve">| 1 | Ramesh Kumar | Fever | Dr. Arjun | Waiting |</a:t>
            </a:r>
          </a:p>
          <a:p>
            <a:r>
              <a:rPr lang="en-US" sz="800">
                <a:solidFill>
                  <a:srgbClr val="17202A"/>
                </a:solidFill>
              </a:rPr>
              <a:t xml:space="preserve">| 2 | Priya Sharma | Follow-up | Dr. Arjun | Waiting |</a:t>
            </a:r>
          </a:p>
          <a:p>
            <a:r>
              <a:rPr lang="en-US" sz="800">
                <a:solidFill>
                  <a:srgbClr val="17202A"/>
                </a:solidFill>
              </a:rPr>
              <a:t xml:space="preserve">| 3 | Suresh Reddy | Consultation | Dr. Arjun | Waiting |</a:t>
            </a:r>
          </a:p>
          <a:p>
            <a:r>
              <a:rPr lang="en-US" sz="800">
                <a:solidFill>
                  <a:srgbClr val="17202A"/>
                </a:solidFill>
              </a:rPr>
              <a:t xml:space="preserve"/>
            </a:r>
          </a:p>
          <a:p>
            <a:r>
              <a:rPr lang="en-US" sz="800">
                <a:solidFill>
                  <a:srgbClr val="17202A"/>
                </a:solidFill>
              </a:rPr>
              <a:t xml:space="preserve">This can become a complete digital waiting-room screen in future.</a:t>
            </a:r>
          </a:p>
          <a:p>
            <a:r>
              <a:rPr lang="en-US" sz="800">
                <a:solidFill>
                  <a:srgbClr val="17202A"/>
                </a:solidFill>
              </a:rPr>
              <a:t xml:space="preserve"/>
            </a:r>
          </a:p>
          <a:p>
            <a:r>
              <a:rPr lang="en-US" sz="800">
                <a:solidFill>
                  <a:srgbClr val="17202A"/>
                </a:solidFill>
              </a:rPr>
              <a:t xml:space="preserve">### Step 3: Doctor Opens Patient Details</a:t>
            </a:r>
          </a:p>
          <a:p>
            <a:r>
              <a:rPr lang="en-US" sz="800">
                <a:solidFill>
                  <a:srgbClr val="17202A"/>
                </a:solidFill>
              </a:rPr>
              <a:t xml:space="preserve"/>
            </a:r>
          </a:p>
          <a:p>
            <a:r>
              <a:rPr lang="en-US" sz="800">
                <a:solidFill>
                  <a:srgbClr val="17202A"/>
                </a:solidFill>
              </a:rPr>
              <a:t xml:space="preserve">Doctor clicks Ramesh Kumar.</a:t>
            </a:r>
          </a:p>
          <a:p>
            <a:r>
              <a:rPr lang="en-US" sz="800">
                <a:solidFill>
                  <a:srgbClr val="17202A"/>
                </a:solidFill>
              </a:rPr>
              <a:t xml:space="preserve"/>
            </a:r>
          </a:p>
          <a:p>
            <a:r>
              <a:rPr lang="en-US" sz="800">
                <a:solidFill>
                  <a:srgbClr val="17202A"/>
                </a:solidFill>
              </a:rPr>
              <a:t xml:space="preserve">The doctor can see:</a:t>
            </a:r>
          </a:p>
          <a:p>
            <a:r>
              <a:rPr lang="en-US" sz="800">
                <a:solidFill>
                  <a:srgbClr val="17202A"/>
                </a:solidFill>
              </a:rPr>
              <a:t xml:space="preserve"/>
            </a:r>
          </a:p>
          <a:p>
            <a:r>
              <a:rPr lang="en-US" sz="800">
                <a:solidFill>
                  <a:srgbClr val="17202A"/>
                </a:solidFill>
              </a:rPr>
              <a:t xml:space="preserve">- patient name, age, gender, phone,</a:t>
            </a:r>
          </a:p>
          <a:p>
            <a:r>
              <a:rPr lang="en-US" sz="800">
                <a:solidFill>
                  <a:srgbClr val="17202A"/>
                </a:solidFill>
              </a:rPr>
              <a:t xml:space="preserve">- assigned doctor,</a:t>
            </a:r>
          </a:p>
          <a:p>
            <a:r>
              <a:rPr lang="en-US" sz="800">
                <a:solidFill>
                  <a:srgbClr val="17202A"/>
                </a:solidFill>
              </a:rPr>
              <a:t xml:space="preserve">- previous visit records,</a:t>
            </a:r>
          </a:p>
          <a:p>
            <a:r>
              <a:rPr lang="en-US" sz="800">
                <a:solidFill>
                  <a:srgbClr val="17202A"/>
                </a:solidFill>
              </a:rPr>
              <a:t xml:space="preserve">- disease summary,</a:t>
            </a:r>
          </a:p>
          <a:p>
            <a:r>
              <a:rPr lang="en-US" sz="800">
                <a:solidFill>
                  <a:srgbClr val="17202A"/>
                </a:solidFill>
              </a:rPr>
              <a:t xml:space="preserve">- diagnosis history,</a:t>
            </a:r>
          </a:p>
          <a:p>
            <a:r>
              <a:rPr lang="en-US" sz="800">
                <a:solidFill>
                  <a:srgbClr val="17202A"/>
                </a:solidFill>
              </a:rPr>
              <a:t xml:space="preserve">- prescription history,</a:t>
            </a:r>
          </a:p>
          <a:p>
            <a:r>
              <a:rPr lang="en-US" sz="800">
                <a:solidFill>
                  <a:srgbClr val="17202A"/>
                </a:solidFill>
              </a:rPr>
              <a:t xml:space="preserve">- medicine history,</a:t>
            </a:r>
          </a:p>
          <a:p>
            <a:r>
              <a:rPr lang="en-US" sz="800">
                <a:solidFill>
                  <a:srgbClr val="17202A"/>
                </a:solidFill>
              </a:rPr>
              <a:t xml:space="preserve">- test/X-ray attachments,</a:t>
            </a:r>
          </a:p>
          <a:p>
            <a:r>
              <a:rPr lang="en-US" sz="800">
                <a:solidFill>
                  <a:srgbClr val="17202A"/>
                </a:solidFill>
              </a:rPr>
              <a:t xml:space="preserve">- follow-up information.</a:t>
            </a:r>
          </a:p>
          <a:p>
            <a:r>
              <a:rPr lang="en-US" sz="800">
                <a:solidFill>
                  <a:srgbClr val="17202A"/>
                </a:solidFill>
              </a:rPr>
              <a:t xml:space="preserve"/>
            </a:r>
          </a:p>
          <a:p>
            <a:r>
              <a:rPr lang="en-US" sz="800">
                <a:solidFill>
                  <a:srgbClr val="17202A"/>
                </a:solidFill>
              </a:rPr>
              <a:t xml:space="preserve">### Step 4: Doctor Adds Current Consultation</a:t>
            </a:r>
          </a:p>
          <a:p>
            <a:r>
              <a:rPr lang="en-US" sz="800">
                <a:solidFill>
                  <a:srgbClr val="17202A"/>
                </a:solidFill>
              </a:rPr>
              <a:t xml:space="preserve"/>
            </a:r>
          </a:p>
          <a:p>
            <a:r>
              <a:rPr lang="en-US" sz="800">
                <a:solidFill>
                  <a:srgbClr val="17202A"/>
                </a:solidFill>
              </a:rPr>
              <a:t xml:space="preserve">Doctor enters:</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(12/22)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current complaint,</a:t>
            </a:r>
          </a:p>
          <a:p>
            <a:r>
              <a:rPr lang="en-US" sz="800">
                <a:solidFill>
                  <a:srgbClr val="17202A"/>
                </a:solidFill>
              </a:rPr>
              <a:t xml:space="preserve">- diagnosis,</a:t>
            </a:r>
          </a:p>
          <a:p>
            <a:r>
              <a:rPr lang="en-US" sz="800">
                <a:solidFill>
                  <a:srgbClr val="17202A"/>
                </a:solidFill>
              </a:rPr>
              <a:t xml:space="preserve">- medicines,</a:t>
            </a:r>
          </a:p>
          <a:p>
            <a:r>
              <a:rPr lang="en-US" sz="800">
                <a:solidFill>
                  <a:srgbClr val="17202A"/>
                </a:solidFill>
              </a:rPr>
              <a:t xml:space="preserve">- tests or X-ray advice,</a:t>
            </a:r>
          </a:p>
          <a:p>
            <a:r>
              <a:rPr lang="en-US" sz="800">
                <a:solidFill>
                  <a:srgbClr val="17202A"/>
                </a:solidFill>
              </a:rPr>
              <a:t xml:space="preserve">- follow-up date,</a:t>
            </a:r>
          </a:p>
          <a:p>
            <a:r>
              <a:rPr lang="en-US" sz="800">
                <a:solidFill>
                  <a:srgbClr val="17202A"/>
                </a:solidFill>
              </a:rPr>
              <a:t xml:space="preserve">- notes.</a:t>
            </a:r>
          </a:p>
          <a:p>
            <a:r>
              <a:rPr lang="en-US" sz="800">
                <a:solidFill>
                  <a:srgbClr val="17202A"/>
                </a:solidFill>
              </a:rPr>
              <a:t xml:space="preserve"/>
            </a:r>
          </a:p>
          <a:p>
            <a:r>
              <a:rPr lang="en-US" sz="800">
                <a:solidFill>
                  <a:srgbClr val="17202A"/>
                </a:solidFill>
              </a:rPr>
              <a:t xml:space="preserve">### Step 5: Record Is Saved</a:t>
            </a:r>
          </a:p>
          <a:p>
            <a:r>
              <a:rPr lang="en-US" sz="800">
                <a:solidFill>
                  <a:srgbClr val="17202A"/>
                </a:solidFill>
              </a:rPr>
              <a:t xml:space="preserve"/>
            </a:r>
          </a:p>
          <a:p>
            <a:r>
              <a:rPr lang="en-US" sz="800">
                <a:solidFill>
                  <a:srgbClr val="17202A"/>
                </a:solidFill>
              </a:rPr>
              <a:t xml:space="preserve">The record is saved with a visibility status:</a:t>
            </a:r>
          </a:p>
          <a:p>
            <a:r>
              <a:rPr lang="en-US" sz="800">
                <a:solidFill>
                  <a:srgbClr val="17202A"/>
                </a:solidFill>
              </a:rPr>
              <a:t xml:space="preserve"/>
            </a:r>
          </a:p>
          <a:p>
            <a:r>
              <a:rPr lang="en-US" sz="800">
                <a:solidFill>
                  <a:srgbClr val="17202A"/>
                </a:solidFill>
              </a:rPr>
              <a:t xml:space="preserve">- `VIS_A` for normal record,</a:t>
            </a:r>
          </a:p>
          <a:p>
            <a:r>
              <a:rPr lang="en-US" sz="800">
                <a:solidFill>
                  <a:srgbClr val="17202A"/>
                </a:solidFill>
              </a:rPr>
              <a:t xml:space="preserve">- `VIS_B` for incognito/sensitive record.</a:t>
            </a:r>
          </a:p>
          <a:p>
            <a:r>
              <a:rPr lang="en-US" sz="800">
                <a:solidFill>
                  <a:srgbClr val="17202A"/>
                </a:solidFill>
              </a:rPr>
              <a:t xml:space="preserve"/>
            </a:r>
          </a:p>
          <a:p>
            <a:r>
              <a:rPr lang="en-US" sz="800">
                <a:solidFill>
                  <a:srgbClr val="17202A"/>
                </a:solidFill>
              </a:rPr>
              <a:t xml:space="preserve">### Step 6: Patient History Is Maintained</a:t>
            </a:r>
          </a:p>
          <a:p>
            <a:r>
              <a:rPr lang="en-US" sz="800">
                <a:solidFill>
                  <a:srgbClr val="17202A"/>
                </a:solidFill>
              </a:rPr>
              <a:t xml:space="preserve"/>
            </a:r>
          </a:p>
          <a:p>
            <a:r>
              <a:rPr lang="en-US" sz="800">
                <a:solidFill>
                  <a:srgbClr val="17202A"/>
                </a:solidFill>
              </a:rPr>
              <a:t xml:space="preserve">Next time Ramesh visits, the doctor does not start from zero. The doctor can open previous history and continue treatment properly.</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9. Patient Details Module</a:t>
            </a:r>
          </a:p>
          <a:p>
            <a:r>
              <a:rPr lang="en-US" sz="800">
                <a:solidFill>
                  <a:srgbClr val="17202A"/>
                </a:solidFill>
              </a:rPr>
              <a:t xml:space="preserve"/>
            </a:r>
          </a:p>
          <a:p>
            <a:r>
              <a:rPr lang="en-US" sz="800">
                <a:solidFill>
                  <a:srgbClr val="17202A"/>
                </a:solidFill>
              </a:rPr>
              <a:t xml:space="preserve">The project includes a patient details area with multiple sections.</a:t>
            </a:r>
          </a:p>
          <a:p>
            <a:r>
              <a:rPr lang="en-US" sz="800">
                <a:solidFill>
                  <a:srgbClr val="17202A"/>
                </a:solidFill>
              </a:rPr>
              <a:t xml:space="preserve"/>
            </a:r>
          </a:p>
          <a:p>
            <a:r>
              <a:rPr lang="en-US" sz="800">
                <a:solidFill>
                  <a:srgbClr val="17202A"/>
                </a:solidFill>
              </a:rPr>
              <a:t xml:space="preserve">### 9.1 Settings</a:t>
            </a:r>
          </a:p>
          <a:p>
            <a:r>
              <a:rPr lang="en-US" sz="800">
                <a:solidFill>
                  <a:srgbClr val="17202A"/>
                </a:solidFill>
              </a:rPr>
              <a:t xml:space="preserve"/>
            </a:r>
          </a:p>
          <a:p>
            <a:r>
              <a:rPr lang="en-US" sz="800">
                <a:solidFill>
                  <a:srgbClr val="17202A"/>
                </a:solidFill>
              </a:rPr>
              <a:t xml:space="preserve">Shows basic patient information:</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(13/22)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name,</a:t>
            </a:r>
          </a:p>
          <a:p>
            <a:r>
              <a:rPr lang="en-US" sz="800">
                <a:solidFill>
                  <a:srgbClr val="17202A"/>
                </a:solidFill>
              </a:rPr>
              <a:t xml:space="preserve">- age/date of birth,</a:t>
            </a:r>
          </a:p>
          <a:p>
            <a:r>
              <a:rPr lang="en-US" sz="800">
                <a:solidFill>
                  <a:srgbClr val="17202A"/>
                </a:solidFill>
              </a:rPr>
              <a:t xml:space="preserve">- gender,</a:t>
            </a:r>
          </a:p>
          <a:p>
            <a:r>
              <a:rPr lang="en-US" sz="800">
                <a:solidFill>
                  <a:srgbClr val="17202A"/>
                </a:solidFill>
              </a:rPr>
              <a:t xml:space="preserve">- contact details,</a:t>
            </a:r>
          </a:p>
          <a:p>
            <a:r>
              <a:rPr lang="en-US" sz="800">
                <a:solidFill>
                  <a:srgbClr val="17202A"/>
                </a:solidFill>
              </a:rPr>
              <a:t xml:space="preserve">- assigned doctor,</a:t>
            </a:r>
          </a:p>
          <a:p>
            <a:r>
              <a:rPr lang="en-US" sz="800">
                <a:solidFill>
                  <a:srgbClr val="17202A"/>
                </a:solidFill>
              </a:rPr>
              <a:t xml:space="preserve">- patient status/visibility information where applicable.</a:t>
            </a:r>
          </a:p>
          <a:p>
            <a:r>
              <a:rPr lang="en-US" sz="800">
                <a:solidFill>
                  <a:srgbClr val="17202A"/>
                </a:solidFill>
              </a:rPr>
              <a:t xml:space="preserve"/>
            </a:r>
          </a:p>
          <a:p>
            <a:r>
              <a:rPr lang="en-US" sz="800">
                <a:solidFill>
                  <a:srgbClr val="17202A"/>
                </a:solidFill>
              </a:rPr>
              <a:t xml:space="preserve">### 9.2 Records</a:t>
            </a:r>
          </a:p>
          <a:p>
            <a:r>
              <a:rPr lang="en-US" sz="800">
                <a:solidFill>
                  <a:srgbClr val="17202A"/>
                </a:solidFill>
              </a:rPr>
              <a:t xml:space="preserve"/>
            </a:r>
          </a:p>
          <a:p>
            <a:r>
              <a:rPr lang="en-US" sz="800">
                <a:solidFill>
                  <a:srgbClr val="17202A"/>
                </a:solidFill>
              </a:rPr>
              <a:t xml:space="preserve">Shows visit history:</a:t>
            </a:r>
          </a:p>
          <a:p>
            <a:r>
              <a:rPr lang="en-US" sz="800">
                <a:solidFill>
                  <a:srgbClr val="17202A"/>
                </a:solidFill>
              </a:rPr>
              <a:t xml:space="preserve"/>
            </a:r>
          </a:p>
          <a:p>
            <a:r>
              <a:rPr lang="en-US" sz="800">
                <a:solidFill>
                  <a:srgbClr val="17202A"/>
                </a:solidFill>
              </a:rPr>
              <a:t xml:space="preserve">- new visit,</a:t>
            </a:r>
          </a:p>
          <a:p>
            <a:r>
              <a:rPr lang="en-US" sz="800">
                <a:solidFill>
                  <a:srgbClr val="17202A"/>
                </a:solidFill>
              </a:rPr>
              <a:t xml:space="preserve">- follow-up,</a:t>
            </a:r>
          </a:p>
          <a:p>
            <a:r>
              <a:rPr lang="en-US" sz="800">
                <a:solidFill>
                  <a:srgbClr val="17202A"/>
                </a:solidFill>
              </a:rPr>
              <a:t xml:space="preserve">- continuation,</a:t>
            </a:r>
          </a:p>
          <a:p>
            <a:r>
              <a:rPr lang="en-US" sz="800">
                <a:solidFill>
                  <a:srgbClr val="17202A"/>
                </a:solidFill>
              </a:rPr>
              <a:t xml:space="preserve">- disease summary,</a:t>
            </a:r>
          </a:p>
          <a:p>
            <a:r>
              <a:rPr lang="en-US" sz="800">
                <a:solidFill>
                  <a:srgbClr val="17202A"/>
                </a:solidFill>
              </a:rPr>
              <a:t xml:space="preserve">- diagnosis,</a:t>
            </a:r>
          </a:p>
          <a:p>
            <a:r>
              <a:rPr lang="en-US" sz="800">
                <a:solidFill>
                  <a:srgbClr val="17202A"/>
                </a:solidFill>
              </a:rPr>
              <a:t xml:space="preserve">- doctor notes,</a:t>
            </a:r>
          </a:p>
          <a:p>
            <a:r>
              <a:rPr lang="en-US" sz="800">
                <a:solidFill>
                  <a:srgbClr val="17202A"/>
                </a:solidFill>
              </a:rPr>
              <a:t xml:space="preserve">- created date,</a:t>
            </a:r>
          </a:p>
          <a:p>
            <a:r>
              <a:rPr lang="en-US" sz="800">
                <a:solidFill>
                  <a:srgbClr val="17202A"/>
                </a:solidFill>
              </a:rPr>
              <a:t xml:space="preserve">- visibility status.</a:t>
            </a:r>
          </a:p>
          <a:p>
            <a:r>
              <a:rPr lang="en-US" sz="800">
                <a:solidFill>
                  <a:srgbClr val="17202A"/>
                </a:solidFill>
              </a:rPr>
              <a:t xml:space="preserve"/>
            </a:r>
          </a:p>
          <a:p>
            <a:r>
              <a:rPr lang="en-US" sz="800">
                <a:solidFill>
                  <a:srgbClr val="17202A"/>
                </a:solidFill>
              </a:rPr>
              <a:t xml:space="preserve">### 9.3 Prescription</a:t>
            </a:r>
          </a:p>
          <a:p>
            <a:r>
              <a:rPr lang="en-US" sz="800">
                <a:solidFill>
                  <a:srgbClr val="17202A"/>
                </a:solidFill>
              </a:rPr>
              <a:t xml:space="preserve"/>
            </a:r>
          </a:p>
          <a:p>
            <a:r>
              <a:rPr lang="en-US" sz="800">
                <a:solidFill>
                  <a:srgbClr val="17202A"/>
                </a:solidFill>
              </a:rPr>
              <a:t xml:space="preserve">Shows prescription details:</a:t>
            </a:r>
          </a:p>
          <a:p>
            <a:r>
              <a:rPr lang="en-US" sz="800">
                <a:solidFill>
                  <a:srgbClr val="17202A"/>
                </a:solidFill>
              </a:rPr>
              <a:t xml:space="preserve"/>
            </a:r>
          </a:p>
          <a:p>
            <a:r>
              <a:rPr lang="en-US" sz="800">
                <a:solidFill>
                  <a:srgbClr val="17202A"/>
                </a:solidFill>
              </a:rPr>
              <a:t xml:space="preserve">- symptoms,</a:t>
            </a:r>
          </a:p>
          <a:p>
            <a:r>
              <a:rPr lang="en-US" sz="800">
                <a:solidFill>
                  <a:srgbClr val="17202A"/>
                </a:solidFill>
              </a:rPr>
              <a:t xml:space="preserve">- diagnosis,</a:t>
            </a:r>
          </a:p>
          <a:p>
            <a:r>
              <a:rPr lang="en-US" sz="800">
                <a:solidFill>
                  <a:srgbClr val="17202A"/>
                </a:solidFill>
              </a:rPr>
              <a:t xml:space="preserve">- medicines,</a:t>
            </a:r>
          </a:p>
          <a:p>
            <a:r>
              <a:rPr lang="en-US" sz="800">
                <a:solidFill>
                  <a:srgbClr val="17202A"/>
                </a:solidFill>
              </a:rPr>
              <a:t xml:space="preserve">- dosage,</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(14/22)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food instructions,</a:t>
            </a:r>
          </a:p>
          <a:p>
            <a:r>
              <a:rPr lang="en-US" sz="800">
                <a:solidFill>
                  <a:srgbClr val="17202A"/>
                </a:solidFill>
              </a:rPr>
              <a:t xml:space="preserve">- number of days,</a:t>
            </a:r>
          </a:p>
          <a:p>
            <a:r>
              <a:rPr lang="en-US" sz="800">
                <a:solidFill>
                  <a:srgbClr val="17202A"/>
                </a:solidFill>
              </a:rPr>
              <a:t xml:space="preserve">- tests or X-rays,</a:t>
            </a:r>
          </a:p>
          <a:p>
            <a:r>
              <a:rPr lang="en-US" sz="800">
                <a:solidFill>
                  <a:srgbClr val="17202A"/>
                </a:solidFill>
              </a:rPr>
              <a:t xml:space="preserve">- follow-up date,</a:t>
            </a:r>
          </a:p>
          <a:p>
            <a:r>
              <a:rPr lang="en-US" sz="800">
                <a:solidFill>
                  <a:srgbClr val="17202A"/>
                </a:solidFill>
              </a:rPr>
              <a:t xml:space="preserve">- doctor approval.</a:t>
            </a:r>
          </a:p>
          <a:p>
            <a:r>
              <a:rPr lang="en-US" sz="800">
                <a:solidFill>
                  <a:srgbClr val="17202A"/>
                </a:solidFill>
              </a:rPr>
              <a:t xml:space="preserve"/>
            </a:r>
          </a:p>
          <a:p>
            <a:r>
              <a:rPr lang="en-US" sz="800">
                <a:solidFill>
                  <a:srgbClr val="17202A"/>
                </a:solidFill>
              </a:rPr>
              <a:t xml:space="preserve">### 9.4 Medicine / X-Ray Data</a:t>
            </a:r>
          </a:p>
          <a:p>
            <a:r>
              <a:rPr lang="en-US" sz="800">
                <a:solidFill>
                  <a:srgbClr val="17202A"/>
                </a:solidFill>
              </a:rPr>
              <a:t xml:space="preserve"/>
            </a:r>
          </a:p>
          <a:p>
            <a:r>
              <a:rPr lang="en-US" sz="800">
                <a:solidFill>
                  <a:srgbClr val="17202A"/>
                </a:solidFill>
              </a:rPr>
              <a:t xml:space="preserve">Stores supporting files or links:</a:t>
            </a:r>
          </a:p>
          <a:p>
            <a:r>
              <a:rPr lang="en-US" sz="800">
                <a:solidFill>
                  <a:srgbClr val="17202A"/>
                </a:solidFill>
              </a:rPr>
              <a:t xml:space="preserve"/>
            </a:r>
          </a:p>
          <a:p>
            <a:r>
              <a:rPr lang="en-US" sz="800">
                <a:solidFill>
                  <a:srgbClr val="17202A"/>
                </a:solidFill>
              </a:rPr>
              <a:t xml:space="preserve">- medicine-related files,</a:t>
            </a:r>
          </a:p>
          <a:p>
            <a:r>
              <a:rPr lang="en-US" sz="800">
                <a:solidFill>
                  <a:srgbClr val="17202A"/>
                </a:solidFill>
              </a:rPr>
              <a:t xml:space="preserve">- X-ray reports,</a:t>
            </a:r>
          </a:p>
          <a:p>
            <a:r>
              <a:rPr lang="en-US" sz="800">
                <a:solidFill>
                  <a:srgbClr val="17202A"/>
                </a:solidFill>
              </a:rPr>
              <a:t xml:space="preserve">- lab attachments,</a:t>
            </a:r>
          </a:p>
          <a:p>
            <a:r>
              <a:rPr lang="en-US" sz="800">
                <a:solidFill>
                  <a:srgbClr val="17202A"/>
                </a:solidFill>
              </a:rPr>
              <a:t xml:space="preserve">- prescription-related documents.</a:t>
            </a:r>
          </a:p>
          <a:p>
            <a:r>
              <a:rPr lang="en-US" sz="800">
                <a:solidFill>
                  <a:srgbClr val="17202A"/>
                </a:solidFill>
              </a:rPr>
              <a:t xml:space="preserve"/>
            </a:r>
          </a:p>
          <a:p>
            <a:r>
              <a:rPr lang="en-US" sz="800">
                <a:solidFill>
                  <a:srgbClr val="17202A"/>
                </a:solidFill>
              </a:rPr>
              <a:t xml:space="preserve">This keeps medical history in one place instead of spreading it across multiple papers or registers.</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10. Incognito / Audit Handling Flow</a:t>
            </a:r>
          </a:p>
          <a:p>
            <a:r>
              <a:rPr lang="en-US" sz="800">
                <a:solidFill>
                  <a:srgbClr val="17202A"/>
                </a:solidFill>
              </a:rPr>
              <a:t xml:space="preserve"/>
            </a:r>
          </a:p>
          <a:p>
            <a:r>
              <a:rPr lang="en-US" sz="800">
                <a:solidFill>
                  <a:srgbClr val="17202A"/>
                </a:solidFill>
              </a:rPr>
              <a:t xml:space="preserve">The main agenda of this project is controlled patient visibility.</a:t>
            </a:r>
          </a:p>
          <a:p>
            <a:r>
              <a:rPr lang="en-US" sz="800">
                <a:solidFill>
                  <a:srgbClr val="17202A"/>
                </a:solidFill>
              </a:rPr>
              <a:t xml:space="preserve"/>
            </a:r>
          </a:p>
          <a:p>
            <a:r>
              <a:rPr lang="en-US" sz="800">
                <a:solidFill>
                  <a:srgbClr val="17202A"/>
                </a:solidFill>
              </a:rPr>
              <a:t xml:space="preserve">When the hospital wants to keep some records hidden during audit/inspection, those records are marked as `VIS_B`.</a:t>
            </a:r>
          </a:p>
          <a:p>
            <a:r>
              <a:rPr lang="en-US" sz="800">
                <a:solidFill>
                  <a:srgbClr val="17202A"/>
                </a:solidFill>
              </a:rPr>
              <a:t xml:space="preserve"/>
            </a:r>
          </a:p>
          <a:p>
            <a:r>
              <a:rPr lang="en-US" sz="800">
                <a:solidFill>
                  <a:srgbClr val="17202A"/>
                </a:solidFill>
              </a:rPr>
              <a:t xml:space="preserve">### Normal Mode</a:t>
            </a:r>
          </a:p>
          <a:p>
            <a:r>
              <a:rPr lang="en-US" sz="800">
                <a:solidFill>
                  <a:srgbClr val="17202A"/>
                </a:solidFill>
              </a:rPr>
              <a:t xml:space="preserve"/>
            </a:r>
          </a:p>
          <a:p>
            <a:r>
              <a:rPr lang="en-US" sz="800">
                <a:solidFill>
                  <a:srgbClr val="17202A"/>
                </a:solidFill>
              </a:rPr>
              <a:t xml:space="preserve">In normal hospital operation: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(15/22)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r>
          </a:p>
          <a:p>
            <a:r>
              <a:rPr lang="en-US" sz="800">
                <a:solidFill>
                  <a:srgbClr val="17202A"/>
                </a:solidFill>
              </a:rPr>
              <a:t xml:space="preserve">- doctors can access assigned patient data,</a:t>
            </a:r>
          </a:p>
          <a:p>
            <a:r>
              <a:rPr lang="en-US" sz="800">
                <a:solidFill>
                  <a:srgbClr val="17202A"/>
                </a:solidFill>
              </a:rPr>
              <a:t xml:space="preserve">- receptionist can do front-desk operations,</a:t>
            </a:r>
          </a:p>
          <a:p>
            <a:r>
              <a:rPr lang="en-US" sz="800">
                <a:solidFill>
                  <a:srgbClr val="17202A"/>
                </a:solidFill>
              </a:rPr>
              <a:t xml:space="preserve">- admin can monitor system data,</a:t>
            </a:r>
          </a:p>
          <a:p>
            <a:r>
              <a:rPr lang="en-US" sz="800">
                <a:solidFill>
                  <a:srgbClr val="17202A"/>
                </a:solidFill>
              </a:rPr>
              <a:t xml:space="preserve">- `VIS_A` records are normal,</a:t>
            </a:r>
          </a:p>
          <a:p>
            <a:r>
              <a:rPr lang="en-US" sz="800">
                <a:solidFill>
                  <a:srgbClr val="17202A"/>
                </a:solidFill>
              </a:rPr>
              <a:t xml:space="preserve">- `VIS_B` records are available only according to permission.</a:t>
            </a:r>
          </a:p>
          <a:p>
            <a:r>
              <a:rPr lang="en-US" sz="800">
                <a:solidFill>
                  <a:srgbClr val="17202A"/>
                </a:solidFill>
              </a:rPr>
              <a:t xml:space="preserve"/>
            </a:r>
          </a:p>
          <a:p>
            <a:r>
              <a:rPr lang="en-US" sz="800">
                <a:solidFill>
                  <a:srgbClr val="17202A"/>
                </a:solidFill>
              </a:rPr>
              <a:t xml:space="preserve">### Inspection / Emergency Hide Mode</a:t>
            </a:r>
          </a:p>
          <a:p>
            <a:r>
              <a:rPr lang="en-US" sz="800">
                <a:solidFill>
                  <a:srgbClr val="17202A"/>
                </a:solidFill>
              </a:rPr>
              <a:t xml:space="preserve"/>
            </a:r>
          </a:p>
          <a:p>
            <a:r>
              <a:rPr lang="en-US" sz="800">
                <a:solidFill>
                  <a:srgbClr val="17202A"/>
                </a:solidFill>
              </a:rPr>
              <a:t xml:space="preserve">When audit or inspection happens:</a:t>
            </a:r>
          </a:p>
          <a:p>
            <a:r>
              <a:rPr lang="en-US" sz="800">
                <a:solidFill>
                  <a:srgbClr val="17202A"/>
                </a:solidFill>
              </a:rPr>
              <a:t xml:space="preserve"/>
            </a:r>
          </a:p>
          <a:p>
            <a:r>
              <a:rPr lang="en-US" sz="800">
                <a:solidFill>
                  <a:srgbClr val="17202A"/>
                </a:solidFill>
              </a:rPr>
              <a:t xml:space="preserve">1. Trusted Super Admin enables emergency hide.</a:t>
            </a:r>
          </a:p>
          <a:p>
            <a:r>
              <a:rPr lang="en-US" sz="800">
                <a:solidFill>
                  <a:srgbClr val="17202A"/>
                </a:solidFill>
              </a:rPr>
              <a:t xml:space="preserve">2. `VIS_B` records are moved or hidden from normal record collections/views.</a:t>
            </a:r>
          </a:p>
          <a:p>
            <a:r>
              <a:rPr lang="en-US" sz="800">
                <a:solidFill>
                  <a:srgbClr val="17202A"/>
                </a:solidFill>
              </a:rPr>
              <a:t xml:space="preserve">3. Normal screens show only `VIS_A` data.</a:t>
            </a:r>
          </a:p>
          <a:p>
            <a:r>
              <a:rPr lang="en-US" sz="800">
                <a:solidFill>
                  <a:srgbClr val="17202A"/>
                </a:solidFill>
              </a:rPr>
              <a:t xml:space="preserve">4. Normal exports include only `VIS_A` data.</a:t>
            </a:r>
          </a:p>
          <a:p>
            <a:r>
              <a:rPr lang="en-US" sz="800">
                <a:solidFill>
                  <a:srgbClr val="17202A"/>
                </a:solidFill>
              </a:rPr>
              <a:t xml:space="preserve">5. Audit log stores who enabled the mode, when, and why.</a:t>
            </a:r>
          </a:p>
          <a:p>
            <a:r>
              <a:rPr lang="en-US" sz="800">
                <a:solidFill>
                  <a:srgbClr val="17202A"/>
                </a:solidFill>
              </a:rPr>
              <a:t xml:space="preserve"/>
            </a:r>
          </a:p>
          <a:p>
            <a:r>
              <a:rPr lang="en-US" sz="800">
                <a:solidFill>
                  <a:srgbClr val="17202A"/>
                </a:solidFill>
              </a:rPr>
              <a:t xml:space="preserve">### Restore Mode</a:t>
            </a:r>
          </a:p>
          <a:p>
            <a:r>
              <a:rPr lang="en-US" sz="800">
                <a:solidFill>
                  <a:srgbClr val="17202A"/>
                </a:solidFill>
              </a:rPr>
              <a:t xml:space="preserve"/>
            </a:r>
          </a:p>
          <a:p>
            <a:r>
              <a:rPr lang="en-US" sz="800">
                <a:solidFill>
                  <a:srgbClr val="17202A"/>
                </a:solidFill>
              </a:rPr>
              <a:t xml:space="preserve">After audit/inspection:</a:t>
            </a:r>
          </a:p>
          <a:p>
            <a:r>
              <a:rPr lang="en-US" sz="800">
                <a:solidFill>
                  <a:srgbClr val="17202A"/>
                </a:solidFill>
              </a:rPr>
              <a:t xml:space="preserve"/>
            </a:r>
          </a:p>
          <a:p>
            <a:r>
              <a:rPr lang="en-US" sz="800">
                <a:solidFill>
                  <a:srgbClr val="17202A"/>
                </a:solidFill>
              </a:rPr>
              <a:t xml:space="preserve">1. Trusted Super Admin restores hidden records.</a:t>
            </a:r>
          </a:p>
          <a:p>
            <a:r>
              <a:rPr lang="en-US" sz="800">
                <a:solidFill>
                  <a:srgbClr val="17202A"/>
                </a:solidFill>
              </a:rPr>
              <a:t xml:space="preserve">2. `VIS_B` records return to normal controlled availability.</a:t>
            </a:r>
          </a:p>
          <a:p>
            <a:r>
              <a:rPr lang="en-US" sz="800">
                <a:solidFill>
                  <a:srgbClr val="17202A"/>
                </a:solidFill>
              </a:rPr>
              <a:t xml:space="preserve">3. Audit log stores restore activity.</a:t>
            </a:r>
          </a:p>
          <a:p>
            <a:r>
              <a:rPr lang="en-US" sz="800">
                <a:solidFill>
                  <a:srgbClr val="17202A"/>
                </a:solidFill>
              </a:rPr>
              <a:t xml:space="preserve"/>
            </a:r>
          </a:p>
          <a:p>
            <a:r>
              <a:rPr lang="en-US" sz="800">
                <a:solidFill>
                  <a:srgbClr val="17202A"/>
                </a:solidFill>
              </a:rPr>
              <a:t xml:space="preserve">This allows the hospital to continue daily digital workflow while keeping sensitive data controlled.</a:t>
            </a:r>
          </a:p>
          <a:p>
            <a:r>
              <a:rPr lang="en-US" sz="800">
                <a:solidFill>
                  <a:srgbClr val="17202A"/>
                </a:solidFill>
              </a:rPr>
              <a:t xml:space="preserve"/>
            </a:r>
          </a:p>
          <a:p>
            <a:r>
              <a:rPr lang="en-US" sz="800">
                <a:solidFill>
                  <a:srgbClr val="17202A"/>
                </a:solidFill>
              </a:rPr>
              <a:t xml:space="preserve">---</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(16/22)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r>
          </a:p>
          <a:p>
            <a:r>
              <a:rPr lang="en-US" sz="800">
                <a:solidFill>
                  <a:srgbClr val="17202A"/>
                </a:solidFill>
              </a:rPr>
              <a:t xml:space="preserve">## 11. Offline Payment Plan</a:t>
            </a:r>
          </a:p>
          <a:p>
            <a:r>
              <a:rPr lang="en-US" sz="800">
                <a:solidFill>
                  <a:srgbClr val="17202A"/>
                </a:solidFill>
              </a:rPr>
              <a:t xml:space="preserve"/>
            </a:r>
          </a:p>
          <a:p>
            <a:r>
              <a:rPr lang="en-US" sz="800">
                <a:solidFill>
                  <a:srgbClr val="17202A"/>
                </a:solidFill>
              </a:rPr>
              <a:t xml:space="preserve">The current main focus is not online payment gateway integration.</a:t>
            </a:r>
          </a:p>
          <a:p>
            <a:r>
              <a:rPr lang="en-US" sz="800">
                <a:solidFill>
                  <a:srgbClr val="17202A"/>
                </a:solidFill>
              </a:rPr>
              <a:t xml:space="preserve"/>
            </a:r>
          </a:p>
          <a:p>
            <a:r>
              <a:rPr lang="en-US" sz="800">
                <a:solidFill>
                  <a:srgbClr val="17202A"/>
                </a:solidFill>
              </a:rPr>
              <a:t xml:space="preserve">The planned payment approach is:</a:t>
            </a:r>
          </a:p>
          <a:p>
            <a:r>
              <a:rPr lang="en-US" sz="800">
                <a:solidFill>
                  <a:srgbClr val="17202A"/>
                </a:solidFill>
              </a:rPr>
              <a:t xml:space="preserve"/>
            </a:r>
          </a:p>
          <a:p>
            <a:r>
              <a:rPr lang="en-US" sz="800">
                <a:solidFill>
                  <a:srgbClr val="17202A"/>
                </a:solidFill>
              </a:rPr>
              <a:t xml:space="preserve">- allow offline payment mode,</a:t>
            </a:r>
          </a:p>
          <a:p>
            <a:r>
              <a:rPr lang="en-US" sz="800">
                <a:solidFill>
                  <a:srgbClr val="17202A"/>
                </a:solidFill>
              </a:rPr>
              <a:t xml:space="preserve">- receptionist records payment status manually,</a:t>
            </a:r>
          </a:p>
          <a:p>
            <a:r>
              <a:rPr lang="en-US" sz="800">
                <a:solidFill>
                  <a:srgbClr val="17202A"/>
                </a:solidFill>
              </a:rPr>
              <a:t xml:space="preserve">- payment can be cash, UPI outside the app, card machine, or other offline method,</a:t>
            </a:r>
          </a:p>
          <a:p>
            <a:r>
              <a:rPr lang="en-US" sz="800">
                <a:solidFill>
                  <a:srgbClr val="17202A"/>
                </a:solidFill>
              </a:rPr>
              <a:t xml:space="preserve">- system can maintain payment reference or notes,</a:t>
            </a:r>
          </a:p>
          <a:p>
            <a:r>
              <a:rPr lang="en-US" sz="800">
                <a:solidFill>
                  <a:srgbClr val="17202A"/>
                </a:solidFill>
              </a:rPr>
              <a:t xml:space="preserve">- the medical workflow does not depend on payment gateway success/failure.</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Ramesh pays consultation fee by cash at reception. Receptionist marks payment as received in the system. Doctor can continue consultation flow without waiting for online payment confirmation.</a:t>
            </a:r>
          </a:p>
          <a:p>
            <a:r>
              <a:rPr lang="en-US" sz="800">
                <a:solidFill>
                  <a:srgbClr val="17202A"/>
                </a:solidFill>
              </a:rPr>
              <a:t xml:space="preserve"/>
            </a:r>
          </a:p>
          <a:p>
            <a:r>
              <a:rPr lang="en-US" sz="800">
                <a:solidFill>
                  <a:srgbClr val="17202A"/>
                </a:solidFill>
              </a:rPr>
              <a:t xml:space="preserve">This keeps the hospital workflow simple and practical.</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12. Future Trusted-Person Operating Model</a:t>
            </a:r>
          </a:p>
          <a:p>
            <a:r>
              <a:rPr lang="en-US" sz="800">
                <a:solidFill>
                  <a:srgbClr val="17202A"/>
                </a:solidFill>
              </a:rPr>
              <a:t xml:space="preserve"/>
            </a:r>
          </a:p>
          <a:p>
            <a:r>
              <a:rPr lang="en-US" sz="800">
                <a:solidFill>
                  <a:srgbClr val="17202A"/>
                </a:solidFill>
              </a:rPr>
              <a:t xml:space="preserve">In future, the whole application can be operated by one trusted person or a trusted small group inside the hospital.</a:t>
            </a:r>
          </a:p>
          <a:p>
            <a:r>
              <a:rPr lang="en-US" sz="800">
                <a:solidFill>
                  <a:srgbClr val="17202A"/>
                </a:solidFill>
              </a:rPr>
              <a:t xml:space="preserve"/>
            </a:r>
          </a:p>
          <a:p>
            <a:r>
              <a:rPr lang="en-US" sz="800">
                <a:solidFill>
                  <a:srgbClr val="17202A"/>
                </a:solidFill>
              </a:rPr>
              <a:t xml:space="preserve">That trusted person can:</a:t>
            </a:r>
          </a:p>
          <a:p>
            <a:r>
              <a:rPr lang="en-US" sz="800">
                <a:solidFill>
                  <a:srgbClr val="17202A"/>
                </a:solidFill>
              </a:rPr>
              <a:t xml:space="preserve"/>
            </a:r>
          </a:p>
          <a:p>
            <a:r>
              <a:rPr lang="en-US" sz="800">
                <a:solidFill>
                  <a:srgbClr val="17202A"/>
                </a:solidFill>
              </a:rPr>
              <a:t xml:space="preserve">- control which records are `VIS_A` and `VIS_B`,</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(17/22)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manage inspection mode,</a:t>
            </a:r>
          </a:p>
          <a:p>
            <a:r>
              <a:rPr lang="en-US" sz="800">
                <a:solidFill>
                  <a:srgbClr val="17202A"/>
                </a:solidFill>
              </a:rPr>
              <a:t xml:space="preserve">- manage doctors and receptionists,</a:t>
            </a:r>
          </a:p>
          <a:p>
            <a:r>
              <a:rPr lang="en-US" sz="800">
                <a:solidFill>
                  <a:srgbClr val="17202A"/>
                </a:solidFill>
              </a:rPr>
              <a:t xml:space="preserve">- monitor audit logs,</a:t>
            </a:r>
          </a:p>
          <a:p>
            <a:r>
              <a:rPr lang="en-US" sz="800">
                <a:solidFill>
                  <a:srgbClr val="17202A"/>
                </a:solidFill>
              </a:rPr>
              <a:t xml:space="preserve">- decide when to restore hidden records,</a:t>
            </a:r>
          </a:p>
          <a:p>
            <a:r>
              <a:rPr lang="en-US" sz="800">
                <a:solidFill>
                  <a:srgbClr val="17202A"/>
                </a:solidFill>
              </a:rPr>
              <a:t xml:space="preserve">- ensure sensitive records are handled correctly.</a:t>
            </a:r>
          </a:p>
          <a:p>
            <a:r>
              <a:rPr lang="en-US" sz="800">
                <a:solidFill>
                  <a:srgbClr val="17202A"/>
                </a:solidFill>
              </a:rPr>
              <a:t xml:space="preserve"/>
            </a:r>
          </a:p>
          <a:p>
            <a:r>
              <a:rPr lang="en-US" sz="800">
                <a:solidFill>
                  <a:srgbClr val="17202A"/>
                </a:solidFill>
              </a:rPr>
              <a:t xml:space="preserve">This is important because the incognito feature should not be available to every staff member. It should be controlled only by trusted hospital users.</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13. Waiting-Room Optimization Plan</a:t>
            </a:r>
          </a:p>
          <a:p>
            <a:r>
              <a:rPr lang="en-US" sz="800">
                <a:solidFill>
                  <a:srgbClr val="17202A"/>
                </a:solidFill>
              </a:rPr>
              <a:t xml:space="preserve"/>
            </a:r>
          </a:p>
          <a:p>
            <a:r>
              <a:rPr lang="en-US" sz="800">
                <a:solidFill>
                  <a:srgbClr val="17202A"/>
                </a:solidFill>
              </a:rPr>
              <a:t xml:space="preserve">The application can fully digitalize the waiting room.</a:t>
            </a:r>
          </a:p>
          <a:p>
            <a:r>
              <a:rPr lang="en-US" sz="800">
                <a:solidFill>
                  <a:srgbClr val="17202A"/>
                </a:solidFill>
              </a:rPr>
              <a:t xml:space="preserve"/>
            </a:r>
          </a:p>
          <a:p>
            <a:r>
              <a:rPr lang="en-US" sz="800">
                <a:solidFill>
                  <a:srgbClr val="17202A"/>
                </a:solidFill>
              </a:rPr>
              <a:t xml:space="preserve">Current/future doctor screen can show:</a:t>
            </a:r>
          </a:p>
          <a:p>
            <a:r>
              <a:rPr lang="en-US" sz="800">
                <a:solidFill>
                  <a:srgbClr val="17202A"/>
                </a:solidFill>
              </a:rPr>
              <a:t xml:space="preserve"/>
            </a:r>
          </a:p>
          <a:p>
            <a:r>
              <a:rPr lang="en-US" sz="800">
                <a:solidFill>
                  <a:srgbClr val="17202A"/>
                </a:solidFill>
              </a:rPr>
              <a:t xml:space="preserve">- who is waiting,</a:t>
            </a:r>
          </a:p>
          <a:p>
            <a:r>
              <a:rPr lang="en-US" sz="800">
                <a:solidFill>
                  <a:srgbClr val="17202A"/>
                </a:solidFill>
              </a:rPr>
              <a:t xml:space="preserve">- who is next,</a:t>
            </a:r>
          </a:p>
          <a:p>
            <a:r>
              <a:rPr lang="en-US" sz="800">
                <a:solidFill>
                  <a:srgbClr val="17202A"/>
                </a:solidFill>
              </a:rPr>
              <a:t xml:space="preserve">- which patient is in consultation,</a:t>
            </a:r>
          </a:p>
          <a:p>
            <a:r>
              <a:rPr lang="en-US" sz="800">
                <a:solidFill>
                  <a:srgbClr val="17202A"/>
                </a:solidFill>
              </a:rPr>
              <a:t xml:space="preserve">- visit type,</a:t>
            </a:r>
          </a:p>
          <a:p>
            <a:r>
              <a:rPr lang="en-US" sz="800">
                <a:solidFill>
                  <a:srgbClr val="17202A"/>
                </a:solidFill>
              </a:rPr>
              <a:t xml:space="preserve">- assigned doctor,</a:t>
            </a:r>
          </a:p>
          <a:p>
            <a:r>
              <a:rPr lang="en-US" sz="800">
                <a:solidFill>
                  <a:srgbClr val="17202A"/>
                </a:solidFill>
              </a:rPr>
              <a:t xml:space="preserve">- patient basic details,</a:t>
            </a:r>
          </a:p>
          <a:p>
            <a:r>
              <a:rPr lang="en-US" sz="800">
                <a:solidFill>
                  <a:srgbClr val="17202A"/>
                </a:solidFill>
              </a:rPr>
              <a:t xml:space="preserve">- previous visit summary,</a:t>
            </a:r>
          </a:p>
          <a:p>
            <a:r>
              <a:rPr lang="en-US" sz="800">
                <a:solidFill>
                  <a:srgbClr val="17202A"/>
                </a:solidFill>
              </a:rPr>
              <a:t xml:space="preserve">- pending reports,</a:t>
            </a:r>
          </a:p>
          <a:p>
            <a:r>
              <a:rPr lang="en-US" sz="800">
                <a:solidFill>
                  <a:srgbClr val="17202A"/>
                </a:solidFill>
              </a:rPr>
              <a:t xml:space="preserve">- follow-up status.</a:t>
            </a:r>
          </a:p>
          <a:p>
            <a:r>
              <a:rPr lang="en-US" sz="800">
                <a:solidFill>
                  <a:srgbClr val="17202A"/>
                </a:solidFill>
              </a:rPr>
              <a:t xml:space="preserve"/>
            </a:r>
          </a:p>
          <a:p>
            <a:r>
              <a:rPr lang="en-US" sz="800">
                <a:solidFill>
                  <a:srgbClr val="17202A"/>
                </a:solidFill>
              </a:rPr>
              <a:t xml:space="preserve">Example waiting-room flow:</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(18/22)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a:t>
            </a:r>
          </a:p>
          <a:p>
            <a:r>
              <a:rPr lang="en-US" sz="800">
                <a:solidFill>
                  <a:srgbClr val="17202A"/>
                </a:solidFill>
              </a:rPr>
              <a:t xml:space="preserve">Reception registers patient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Patient enters waiting list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Doctor screen shows next patient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Doctor opens patient details before calling patient</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Consultation starts</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Prescription and record saved</a:t>
            </a:r>
          </a:p>
          <a:p>
            <a:r>
              <a:rPr lang="en-US" sz="800">
                <a:solidFill>
                  <a:srgbClr val="17202A"/>
                </a:solidFill>
              </a:rPr>
              <a:t xml:space="preserve">    |</a:t>
            </a:r>
          </a:p>
          <a:p>
            <a:r>
              <a:rPr lang="en-US" sz="800">
                <a:solidFill>
                  <a:srgbClr val="17202A"/>
                </a:solidFill>
              </a:rPr>
              <a:t xml:space="preserve">    v</a:t>
            </a:r>
          </a:p>
          <a:p>
            <a:r>
              <a:rPr lang="en-US" sz="800">
                <a:solidFill>
                  <a:srgbClr val="17202A"/>
                </a:solidFill>
              </a:rPr>
              <a:t xml:space="preserve">Patient checkout / follow-up / medicine process</a:t>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This reduces paper dependency and makes doctor consultation faster.</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14. Medicine History Maintenance</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(19/22)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The system maintains medicine and prescription history so doctors can understand previous treatment.</a:t>
            </a:r>
          </a:p>
          <a:p>
            <a:r>
              <a:rPr lang="en-US" sz="800">
                <a:solidFill>
                  <a:srgbClr val="17202A"/>
                </a:solidFill>
              </a:rPr>
              <a:t xml:space="preserve"/>
            </a:r>
          </a:p>
          <a:p>
            <a:r>
              <a:rPr lang="en-US" sz="800">
                <a:solidFill>
                  <a:srgbClr val="17202A"/>
                </a:solidFill>
              </a:rPr>
              <a:t xml:space="preserve">Doctor can check:</a:t>
            </a:r>
          </a:p>
          <a:p>
            <a:r>
              <a:rPr lang="en-US" sz="800">
                <a:solidFill>
                  <a:srgbClr val="17202A"/>
                </a:solidFill>
              </a:rPr>
              <a:t xml:space="preserve"/>
            </a:r>
          </a:p>
          <a:p>
            <a:r>
              <a:rPr lang="en-US" sz="800">
                <a:solidFill>
                  <a:srgbClr val="17202A"/>
                </a:solidFill>
              </a:rPr>
              <a:t xml:space="preserve">- previous medicine names,</a:t>
            </a:r>
          </a:p>
          <a:p>
            <a:r>
              <a:rPr lang="en-US" sz="800">
                <a:solidFill>
                  <a:srgbClr val="17202A"/>
                </a:solidFill>
              </a:rPr>
              <a:t xml:space="preserve">- dosage,</a:t>
            </a:r>
          </a:p>
          <a:p>
            <a:r>
              <a:rPr lang="en-US" sz="800">
                <a:solidFill>
                  <a:srgbClr val="17202A"/>
                </a:solidFill>
              </a:rPr>
              <a:t xml:space="preserve">- number of days,</a:t>
            </a:r>
          </a:p>
          <a:p>
            <a:r>
              <a:rPr lang="en-US" sz="800">
                <a:solidFill>
                  <a:srgbClr val="17202A"/>
                </a:solidFill>
              </a:rPr>
              <a:t xml:space="preserve">- instructions,</a:t>
            </a:r>
          </a:p>
          <a:p>
            <a:r>
              <a:rPr lang="en-US" sz="800">
                <a:solidFill>
                  <a:srgbClr val="17202A"/>
                </a:solidFill>
              </a:rPr>
              <a:t xml:space="preserve">- diagnosis connected to medicine,</a:t>
            </a:r>
          </a:p>
          <a:p>
            <a:r>
              <a:rPr lang="en-US" sz="800">
                <a:solidFill>
                  <a:srgbClr val="17202A"/>
                </a:solidFill>
              </a:rPr>
              <a:t xml:space="preserve">- follow-up advice,</a:t>
            </a:r>
          </a:p>
          <a:p>
            <a:r>
              <a:rPr lang="en-US" sz="800">
                <a:solidFill>
                  <a:srgbClr val="17202A"/>
                </a:solidFill>
              </a:rPr>
              <a:t xml:space="preserve">- whether medicine was part of current or older visit.</a:t>
            </a:r>
          </a:p>
          <a:p>
            <a:r>
              <a:rPr lang="en-US" sz="800">
                <a:solidFill>
                  <a:srgbClr val="17202A"/>
                </a:solidFill>
              </a:rPr>
              <a:t xml:space="preserve"/>
            </a:r>
          </a:p>
          <a:p>
            <a:r>
              <a:rPr lang="en-US" sz="800">
                <a:solidFill>
                  <a:srgbClr val="17202A"/>
                </a:solidFill>
              </a:rPr>
              <a:t xml:space="preserve">Example:</a:t>
            </a:r>
          </a:p>
          <a:p>
            <a:r>
              <a:rPr lang="en-US" sz="800">
                <a:solidFill>
                  <a:srgbClr val="17202A"/>
                </a:solidFill>
              </a:rPr>
              <a:t xml:space="preserve"/>
            </a:r>
          </a:p>
          <a:p>
            <a:r>
              <a:rPr lang="en-US" sz="800">
                <a:solidFill>
                  <a:srgbClr val="17202A"/>
                </a:solidFill>
              </a:rPr>
              <a:t xml:space="preserve">Priya comes again for gastric pain. Doctor checks that she was already given one medicine last month. Doctor can avoid repeating the same medicine unnecessarily and can change treatment based on history.</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15. Who Can See What</a:t>
            </a:r>
          </a:p>
          <a:p>
            <a:r>
              <a:rPr lang="en-US" sz="800">
                <a:solidFill>
                  <a:srgbClr val="17202A"/>
                </a:solidFill>
              </a:rPr>
              <a:t xml:space="preserve"/>
            </a:r>
          </a:p>
          <a:p>
            <a:r>
              <a:rPr lang="en-US" sz="800">
                <a:solidFill>
                  <a:srgbClr val="17202A"/>
                </a:solidFill>
              </a:rPr>
              <a:t xml:space="preserve">| Action | Super Admin | Doctor | Receptionist |</a:t>
            </a:r>
          </a:p>
          <a:p>
            <a:r>
              <a:rPr lang="en-US" sz="800">
                <a:solidFill>
                  <a:srgbClr val="17202A"/>
                </a:solidFill>
              </a:rPr>
              <a:t xml:space="preserve">|--------|-------------|--------|--------------|</a:t>
            </a:r>
          </a:p>
          <a:p>
            <a:r>
              <a:rPr lang="en-US" sz="800">
                <a:solidFill>
                  <a:srgbClr val="17202A"/>
                </a:solidFill>
              </a:rPr>
              <a:t xml:space="preserve">| Create users | Yes | No | No |</a:t>
            </a:r>
          </a:p>
          <a:p>
            <a:r>
              <a:rPr lang="en-US" sz="800">
                <a:solidFill>
                  <a:srgbClr val="17202A"/>
                </a:solidFill>
              </a:rPr>
              <a:t xml:space="preserve">| Create patient | Usually no / admin controlled | No | Yes |</a:t>
            </a:r>
          </a:p>
          <a:p>
            <a:r>
              <a:rPr lang="en-US" sz="800">
                <a:solidFill>
                  <a:srgbClr val="17202A"/>
                </a:solidFill>
              </a:rPr>
              <a:t xml:space="preserve">| Assign doctor | Yes | No | Yes during registration |</a:t>
            </a:r>
          </a:p>
          <a:p>
            <a:r>
              <a:rPr lang="en-US" sz="800">
                <a:solidFill>
                  <a:srgbClr val="17202A"/>
                </a:solidFill>
              </a:rPr>
              <a:t xml:space="preserve">| See assigned patients | Yes | Yes | Yes based on clinic/front desk |</a:t>
            </a:r>
          </a:p>
          <a:p>
            <a:r>
              <a:rPr lang="en-US" sz="800">
                <a:solidFill>
                  <a:srgbClr val="17202A"/>
                </a:solidFill>
              </a:rPr>
              <a:t xml:space="preserve">| See patient profile | Yes | Yes, based on assignment/clinic rules | Yes, based on clinic/front desk |</a:t>
            </a:r>
          </a:p>
          <a:p>
            <a:r>
              <a:rPr lang="en-US" sz="800">
                <a:solidFill>
                  <a:srgbClr val="17202A"/>
                </a:solidFill>
              </a:rPr>
              <a:t xml:space="preserve">| Add consultation record | Yes if allowed | Yes | Limited/support entry based on module |</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(20/22)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 Add prescription | Controlled | Yes / doctor approval | Entry support where allowed |</a:t>
            </a:r>
          </a:p>
          <a:p>
            <a:r>
              <a:rPr lang="en-US" sz="800">
                <a:solidFill>
                  <a:srgbClr val="17202A"/>
                </a:solidFill>
              </a:rPr>
              <a:t xml:space="preserve">| Change `VIS_A` / `VIS_B` | Yes | Yes if authorized | Limited/controlled |</a:t>
            </a:r>
          </a:p>
          <a:p>
            <a:r>
              <a:rPr lang="en-US" sz="800">
                <a:solidFill>
                  <a:srgbClr val="17202A"/>
                </a:solidFill>
              </a:rPr>
              <a:t xml:space="preserve">| Emergency hide/restore | Yes | No | No |</a:t>
            </a:r>
          </a:p>
          <a:p>
            <a:r>
              <a:rPr lang="en-US" sz="800">
                <a:solidFill>
                  <a:srgbClr val="17202A"/>
                </a:solidFill>
              </a:rPr>
              <a:t xml:space="preserve">| View audit logs | Full | Scoped | Own/scoped |</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16. Export And Audit Safety</a:t>
            </a:r>
          </a:p>
          <a:p>
            <a:r>
              <a:rPr lang="en-US" sz="800">
                <a:solidFill>
                  <a:srgbClr val="17202A"/>
                </a:solidFill>
              </a:rPr>
              <a:t xml:space="preserve"/>
            </a:r>
          </a:p>
          <a:p>
            <a:r>
              <a:rPr lang="en-US" sz="800">
                <a:solidFill>
                  <a:srgbClr val="17202A"/>
                </a:solidFill>
              </a:rPr>
              <a:t xml:space="preserve">Exports must follow role and visibility rules.</a:t>
            </a:r>
          </a:p>
          <a:p>
            <a:r>
              <a:rPr lang="en-US" sz="800">
                <a:solidFill>
                  <a:srgbClr val="17202A"/>
                </a:solidFill>
              </a:rPr>
              <a:t xml:space="preserve"/>
            </a:r>
          </a:p>
          <a:p>
            <a:r>
              <a:rPr lang="en-US" sz="800">
                <a:solidFill>
                  <a:srgbClr val="17202A"/>
                </a:solidFill>
              </a:rPr>
              <a:t xml:space="preserve">General rule:</a:t>
            </a:r>
          </a:p>
          <a:p>
            <a:r>
              <a:rPr lang="en-US" sz="800">
                <a:solidFill>
                  <a:srgbClr val="17202A"/>
                </a:solidFill>
              </a:rPr>
              <a:t xml:space="preserve"/>
            </a:r>
          </a:p>
          <a:p>
            <a:r>
              <a:rPr lang="en-US" sz="800">
                <a:solidFill>
                  <a:srgbClr val="17202A"/>
                </a:solidFill>
              </a:rPr>
              <a:t xml:space="preserve">- Receptionist export should be restricted.</a:t>
            </a:r>
          </a:p>
          <a:p>
            <a:r>
              <a:rPr lang="en-US" sz="800">
                <a:solidFill>
                  <a:srgbClr val="17202A"/>
                </a:solidFill>
              </a:rPr>
              <a:t xml:space="preserve">- Doctor export should be related to assigned patients.</a:t>
            </a:r>
          </a:p>
          <a:p>
            <a:r>
              <a:rPr lang="en-US" sz="800">
                <a:solidFill>
                  <a:srgbClr val="17202A"/>
                </a:solidFill>
              </a:rPr>
              <a:t xml:space="preserve">- Super Admin export can be broader but should be audited.</a:t>
            </a:r>
          </a:p>
          <a:p>
            <a:r>
              <a:rPr lang="en-US" sz="800">
                <a:solidFill>
                  <a:srgbClr val="17202A"/>
                </a:solidFill>
              </a:rPr>
              <a:t xml:space="preserve">- During emergency hide/inspection mode, exports should show only `VIS_A`.</a:t>
            </a:r>
          </a:p>
          <a:p>
            <a:r>
              <a:rPr lang="en-US" sz="800">
                <a:solidFill>
                  <a:srgbClr val="17202A"/>
                </a:solidFill>
              </a:rPr>
              <a:t xml:space="preserve"/>
            </a:r>
          </a:p>
          <a:p>
            <a:r>
              <a:rPr lang="en-US" sz="800">
                <a:solidFill>
                  <a:srgbClr val="17202A"/>
                </a:solidFill>
              </a:rPr>
              <a:t xml:space="preserve">Every important action should be audit logged:</a:t>
            </a:r>
          </a:p>
          <a:p>
            <a:r>
              <a:rPr lang="en-US" sz="800">
                <a:solidFill>
                  <a:srgbClr val="17202A"/>
                </a:solidFill>
              </a:rPr>
              <a:t xml:space="preserve"/>
            </a:r>
          </a:p>
          <a:p>
            <a:r>
              <a:rPr lang="en-US" sz="800">
                <a:solidFill>
                  <a:srgbClr val="17202A"/>
                </a:solidFill>
              </a:rPr>
              <a:t xml:space="preserve">- login,</a:t>
            </a:r>
          </a:p>
          <a:p>
            <a:r>
              <a:rPr lang="en-US" sz="800">
                <a:solidFill>
                  <a:srgbClr val="17202A"/>
                </a:solidFill>
              </a:rPr>
              <a:t xml:space="preserve">- patient creation,</a:t>
            </a:r>
          </a:p>
          <a:p>
            <a:r>
              <a:rPr lang="en-US" sz="800">
                <a:solidFill>
                  <a:srgbClr val="17202A"/>
                </a:solidFill>
              </a:rPr>
              <a:t xml:space="preserve">- record creation,</a:t>
            </a:r>
          </a:p>
          <a:p>
            <a:r>
              <a:rPr lang="en-US" sz="800">
                <a:solidFill>
                  <a:srgbClr val="17202A"/>
                </a:solidFill>
              </a:rPr>
              <a:t xml:space="preserve">- visibility change,</a:t>
            </a:r>
          </a:p>
          <a:p>
            <a:r>
              <a:rPr lang="en-US" sz="800">
                <a:solidFill>
                  <a:srgbClr val="17202A"/>
                </a:solidFill>
              </a:rPr>
              <a:t xml:space="preserve">- export,</a:t>
            </a:r>
          </a:p>
          <a:p>
            <a:r>
              <a:rPr lang="en-US" sz="800">
                <a:solidFill>
                  <a:srgbClr val="17202A"/>
                </a:solidFill>
              </a:rPr>
              <a:t xml:space="preserve">- emergency hide,</a:t>
            </a:r>
          </a:p>
          <a:p>
            <a:r>
              <a:rPr lang="en-US" sz="800">
                <a:solidFill>
                  <a:srgbClr val="17202A"/>
                </a:solidFill>
              </a:rPr>
              <a:t xml:space="preserve">- emergency restore.</a:t>
            </a:r>
          </a:p>
          <a:p>
            <a:r>
              <a:rPr lang="en-US" sz="800">
                <a:solidFill>
                  <a:srgbClr val="17202A"/>
                </a:solidFill>
              </a:rPr>
              <a:t xml:space="preserve"/>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(21/22)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Audit log means the system remembers who did what and when.</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17. End-To-End Example</a:t>
            </a:r>
          </a:p>
          <a:p>
            <a:r>
              <a:rPr lang="en-US" sz="800">
                <a:solidFill>
                  <a:srgbClr val="17202A"/>
                </a:solidFill>
              </a:rPr>
              <a:t xml:space="preserve"/>
            </a:r>
          </a:p>
          <a:p>
            <a:r>
              <a:rPr lang="en-US" sz="800">
                <a:solidFill>
                  <a:srgbClr val="17202A"/>
                </a:solidFill>
              </a:rPr>
              <a:t xml:space="preserve">### Patient: Ramesh Kumar</a:t>
            </a:r>
          </a:p>
          <a:p>
            <a:r>
              <a:rPr lang="en-US" sz="800">
                <a:solidFill>
                  <a:srgbClr val="17202A"/>
                </a:solidFill>
              </a:rPr>
              <a:t xml:space="preserve"/>
            </a:r>
          </a:p>
          <a:p>
            <a:r>
              <a:rPr lang="en-US" sz="800">
                <a:solidFill>
                  <a:srgbClr val="17202A"/>
                </a:solidFill>
              </a:rPr>
              <a:t xml:space="preserve">1. Ramesh enters the hospital.</a:t>
            </a:r>
          </a:p>
          <a:p>
            <a:r>
              <a:rPr lang="en-US" sz="800">
                <a:solidFill>
                  <a:srgbClr val="17202A"/>
                </a:solidFill>
              </a:rPr>
              <a:t xml:space="preserve">2. Receptionist searches by phone number.</a:t>
            </a:r>
          </a:p>
          <a:p>
            <a:r>
              <a:rPr lang="en-US" sz="800">
                <a:solidFill>
                  <a:srgbClr val="17202A"/>
                </a:solidFill>
              </a:rPr>
              <a:t xml:space="preserve">3. Ramesh is new, so receptionist creates patient profile.</a:t>
            </a:r>
          </a:p>
          <a:p>
            <a:r>
              <a:rPr lang="en-US" sz="800">
                <a:solidFill>
                  <a:srgbClr val="17202A"/>
                </a:solidFill>
              </a:rPr>
              <a:t xml:space="preserve">4. Receptionist assigns Dr. Arjun.</a:t>
            </a:r>
          </a:p>
          <a:p>
            <a:r>
              <a:rPr lang="en-US" sz="800">
                <a:solidFill>
                  <a:srgbClr val="17202A"/>
                </a:solidFill>
              </a:rPr>
              <a:t xml:space="preserve">5. Ramesh appears in Dr. Arjun's waiting list.</a:t>
            </a:r>
          </a:p>
          <a:p>
            <a:r>
              <a:rPr lang="en-US" sz="800">
                <a:solidFill>
                  <a:srgbClr val="17202A"/>
                </a:solidFill>
              </a:rPr>
              <a:t xml:space="preserve">6. Doctor opens Ramesh's profile.</a:t>
            </a:r>
          </a:p>
          <a:p>
            <a:r>
              <a:rPr lang="en-US" sz="800">
                <a:solidFill>
                  <a:srgbClr val="17202A"/>
                </a:solidFill>
              </a:rPr>
              <a:t xml:space="preserve">7. Doctor sees no previous history because he is new.</a:t>
            </a:r>
          </a:p>
          <a:p>
            <a:r>
              <a:rPr lang="en-US" sz="800">
                <a:solidFill>
                  <a:srgbClr val="17202A"/>
                </a:solidFill>
              </a:rPr>
              <a:t xml:space="preserve">8. Doctor diagnoses fever and cough.</a:t>
            </a:r>
          </a:p>
          <a:p>
            <a:r>
              <a:rPr lang="en-US" sz="800">
                <a:solidFill>
                  <a:srgbClr val="17202A"/>
                </a:solidFill>
              </a:rPr>
              <a:t xml:space="preserve">9. Doctor adds prescription:</a:t>
            </a:r>
          </a:p>
          <a:p>
            <a:r>
              <a:rPr lang="en-US" sz="800">
                <a:solidFill>
                  <a:srgbClr val="17202A"/>
                </a:solidFill>
              </a:rPr>
              <a:t xml:space="preserve">   - Paracetamol,</a:t>
            </a:r>
          </a:p>
          <a:p>
            <a:r>
              <a:rPr lang="en-US" sz="800">
                <a:solidFill>
                  <a:srgbClr val="17202A"/>
                </a:solidFill>
              </a:rPr>
              <a:t xml:space="preserve">   - cough syrup,</a:t>
            </a:r>
          </a:p>
          <a:p>
            <a:r>
              <a:rPr lang="en-US" sz="800">
                <a:solidFill>
                  <a:srgbClr val="17202A"/>
                </a:solidFill>
              </a:rPr>
              <a:t xml:space="preserve">   - follow-up after 3 days if fever continues.</a:t>
            </a:r>
          </a:p>
          <a:p>
            <a:r>
              <a:rPr lang="en-US" sz="800">
                <a:solidFill>
                  <a:srgbClr val="17202A"/>
                </a:solidFill>
              </a:rPr>
              <a:t xml:space="preserve">10. Record is saved as `VIS_A`.</a:t>
            </a:r>
          </a:p>
          <a:p>
            <a:r>
              <a:rPr lang="en-US" sz="800">
                <a:solidFill>
                  <a:srgbClr val="17202A"/>
                </a:solidFill>
              </a:rPr>
              <a:t xml:space="preserve">11. Later, Ramesh visits again.</a:t>
            </a:r>
          </a:p>
          <a:p>
            <a:r>
              <a:rPr lang="en-US" sz="800">
                <a:solidFill>
                  <a:srgbClr val="17202A"/>
                </a:solidFill>
              </a:rPr>
              <a:t xml:space="preserve">12. Doctor sees previous fever/cough record and continues treatment properly.</a:t>
            </a:r>
          </a:p>
          <a:p>
            <a:r>
              <a:rPr lang="en-US" sz="800">
                <a:solidFill>
                  <a:srgbClr val="17202A"/>
                </a:solidFill>
              </a:rPr>
              <a:t xml:space="preserve"/>
            </a:r>
          </a:p>
          <a:p>
            <a:r>
              <a:rPr lang="en-US" sz="800">
                <a:solidFill>
                  <a:srgbClr val="17202A"/>
                </a:solidFill>
              </a:rPr>
              <a:t xml:space="preserve">### Patient: Suresh Reddy</a:t>
            </a:r>
          </a:p>
          <a:p>
            <a:r>
              <a:rPr lang="en-US" sz="800">
                <a:solidFill>
                  <a:srgbClr val="17202A"/>
                </a:solidFill>
              </a:rPr>
              <a:t xml:space="preserve"/>
            </a:r>
          </a:p>
          <a:p>
            <a:r>
              <a:rPr lang="en-US" sz="800">
                <a:solidFill>
                  <a:srgbClr val="17202A"/>
                </a:solidFill>
              </a:rPr>
              <a:t xml:space="preserve">1. Suresh enters hospital.</a:t>
            </a:r>
          </a:p>
          <a:p>
            <a:r>
              <a:rPr lang="en-US" sz="800">
                <a:solidFill>
                  <a:srgbClr val="17202A"/>
                </a:solidFill>
              </a:rPr>
              <a:t xml:space="preserve">2. Receptionist registers him and assigns Dr. Arjun.</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1695" cy="109728"/>
          </a:xfrm>
          <a:prstGeom prst="rect">
            <a:avLst/>
          </a:prstGeom>
          <a:solidFill>
            <a:srgbClr val="0F766E"/>
          </a:solidFill>
          <a:ln>
            <a:solidFill>
              <a:srgbClr val="FFFFFF"/>
            </a:solidFill>
          </a:ln>
        </p:spPr>
      </p:sp>
      <p:sp>
        <p:nvSpPr>
          <p:cNvPr id="3" name="TextBox 3"/>
          <p:cNvSpPr txBox="1"/>
          <p:nvPr/>
        </p:nvSpPr>
        <p:spPr>
          <a:xfrm>
            <a:off x="502920" y="320040"/>
            <a:ext cx="4023360" cy="320040"/>
          </a:xfrm>
          <a:prstGeom prst="roundRect">
            <a:avLst/>
          </a:prstGeom>
          <a:noFill/>
          <a:ln>
            <a:noFill/>
          </a:ln>
        </p:spPr>
        <p:txBody>
          <a:bodyPr wrap="square" anchor="t" lIns="152400" tIns="114300" rIns="152400" bIns="114300"/>
          <a:lstStyle/>
          <a:p>
            <a:r>
              <a:rPr lang="en-US" sz="1200" b="1">
                <a:solidFill>
                  <a:srgbClr val="0F766E"/>
                </a:solidFill>
              </a:rPr>
              <a:t xml:space="preserve">COMPLETE CONTENT</a:t>
            </a:r>
          </a:p>
        </p:txBody>
      </p:sp>
      <p:sp>
        <p:nvSpPr>
          <p:cNvPr id="4" name="TextBox 4"/>
          <p:cNvSpPr txBox="1"/>
          <p:nvPr/>
        </p:nvSpPr>
        <p:spPr>
          <a:xfrm>
            <a:off x="502920" y="685800"/>
            <a:ext cx="10607040" cy="868680"/>
          </a:xfrm>
          <a:prstGeom prst="roundRect">
            <a:avLst/>
          </a:prstGeom>
          <a:noFill/>
          <a:ln>
            <a:noFill/>
          </a:ln>
        </p:spPr>
        <p:txBody>
          <a:bodyPr wrap="square" anchor="t" lIns="152400" tIns="114300" rIns="152400" bIns="114300"/>
          <a:lstStyle/>
          <a:p>
            <a:r>
              <a:rPr lang="en-US" sz="3000" b="1">
                <a:solidFill>
                  <a:srgbClr val="17202A"/>
                </a:solidFill>
              </a:rPr>
              <a:t xml:space="preserve">Full README Reference (22/22)</a:t>
            </a:r>
          </a:p>
        </p:txBody>
      </p:sp>
      <p:sp>
        <p:nvSpPr>
          <p:cNvPr id="5" name="TextBox 5"/>
          <p:cNvSpPr txBox="1"/>
          <p:nvPr/>
        </p:nvSpPr>
        <p:spPr>
          <a:xfrm>
            <a:off x="502920" y="1463040"/>
            <a:ext cx="10607040" cy="658368"/>
          </a:xfrm>
          <a:prstGeom prst="roundRect">
            <a:avLst/>
          </a:prstGeom>
          <a:noFill/>
          <a:ln>
            <a:noFill/>
          </a:ln>
        </p:spPr>
        <p:txBody>
          <a:bodyPr wrap="square" anchor="t" lIns="152400" tIns="114300" rIns="152400" bIns="114300"/>
          <a:lstStyle/>
          <a:p>
            <a:r>
              <a:rPr lang="en-US" sz="1500">
                <a:solidFill>
                  <a:srgbClr val="5D6D7E"/>
                </a:solidFill>
              </a:rPr>
              <a:t xml:space="preserve">These appendix slides carry the complete README content line-by-line for sharing inside the PowerPoint file.</a:t>
            </a:r>
          </a:p>
        </p:txBody>
      </p:sp>
      <p:sp>
        <p:nvSpPr>
          <p:cNvPr id="6" name="TextBox 6"/>
          <p:cNvSpPr txBox="1"/>
          <p:nvPr/>
        </p:nvSpPr>
        <p:spPr>
          <a:xfrm>
            <a:off x="502920" y="2148840"/>
            <a:ext cx="11155680" cy="3520440"/>
          </a:xfrm>
          <a:prstGeom prst="rect">
            <a:avLst/>
          </a:prstGeom>
          <a:solidFill>
            <a:srgbClr val="F8FAFC"/>
          </a:solidFill>
          <a:ln w="9525">
            <a:solidFill>
              <a:srgbClr val="D9E2EC"/>
            </a:solidFill>
          </a:ln>
        </p:spPr>
        <p:txBody>
          <a:bodyPr wrap="square" anchor="t" lIns="152400" tIns="114300" rIns="152400" bIns="114300"/>
          <a:lstStyle/>
          <a:p>
            <a:r>
              <a:rPr lang="en-US" sz="800">
                <a:solidFill>
                  <a:srgbClr val="17202A"/>
                </a:solidFill>
              </a:rPr>
              <a:t xml:space="preserve">3. Doctor completes consultation.</a:t>
            </a:r>
          </a:p>
          <a:p>
            <a:r>
              <a:rPr lang="en-US" sz="800">
                <a:solidFill>
                  <a:srgbClr val="17202A"/>
                </a:solidFill>
              </a:rPr>
              <a:t xml:space="preserve">4. Hospital decides this record should be incognito.</a:t>
            </a:r>
          </a:p>
          <a:p>
            <a:r>
              <a:rPr lang="en-US" sz="800">
                <a:solidFill>
                  <a:srgbClr val="17202A"/>
                </a:solidFill>
              </a:rPr>
              <a:t xml:space="preserve">5. Record is saved as `VIS_B`.</a:t>
            </a:r>
          </a:p>
          <a:p>
            <a:r>
              <a:rPr lang="en-US" sz="800">
                <a:solidFill>
                  <a:srgbClr val="17202A"/>
                </a:solidFill>
              </a:rPr>
              <a:t xml:space="preserve">6. During normal operations, authorized users can access it.</a:t>
            </a:r>
          </a:p>
          <a:p>
            <a:r>
              <a:rPr lang="en-US" sz="800">
                <a:solidFill>
                  <a:srgbClr val="17202A"/>
                </a:solidFill>
              </a:rPr>
              <a:t xml:space="preserve">7. During audit/inspection mode, `VIS_B` records are hidden from normal views/exports.</a:t>
            </a:r>
          </a:p>
          <a:p>
            <a:r>
              <a:rPr lang="en-US" sz="800">
                <a:solidFill>
                  <a:srgbClr val="17202A"/>
                </a:solidFill>
              </a:rPr>
              <a:t xml:space="preserve">8. After audit, trusted Super Admin restores the hidden data.</a:t>
            </a:r>
          </a:p>
          <a:p>
            <a:r>
              <a:rPr lang="en-US" sz="800">
                <a:solidFill>
                  <a:srgbClr val="17202A"/>
                </a:solidFill>
              </a:rPr>
              <a:t xml:space="preserve"/>
            </a:r>
          </a:p>
          <a:p>
            <a:r>
              <a:rPr lang="en-US" sz="800">
                <a:solidFill>
                  <a:srgbClr val="17202A"/>
                </a:solidFill>
              </a:rPr>
              <a:t xml:space="preserve">---</a:t>
            </a:r>
          </a:p>
          <a:p>
            <a:r>
              <a:rPr lang="en-US" sz="800">
                <a:solidFill>
                  <a:srgbClr val="17202A"/>
                </a:solidFill>
              </a:rPr>
              <a:t xml:space="preserve"/>
            </a:r>
          </a:p>
          <a:p>
            <a:r>
              <a:rPr lang="en-US" sz="800">
                <a:solidFill>
                  <a:srgbClr val="17202A"/>
                </a:solidFill>
              </a:rPr>
              <a:t xml:space="preserve">## 18. Final Project Vision</a:t>
            </a:r>
          </a:p>
          <a:p>
            <a:r>
              <a:rPr lang="en-US" sz="800">
                <a:solidFill>
                  <a:srgbClr val="17202A"/>
                </a:solidFill>
              </a:rPr>
              <a:t xml:space="preserve"/>
            </a:r>
          </a:p>
          <a:p>
            <a:r>
              <a:rPr lang="en-US" sz="800">
                <a:solidFill>
                  <a:srgbClr val="17202A"/>
                </a:solidFill>
              </a:rPr>
              <a:t xml:space="preserve">Smart Health 360 is not only a patient registration system. The final vision is:</a:t>
            </a:r>
          </a:p>
          <a:p>
            <a:r>
              <a:rPr lang="en-US" sz="800">
                <a:solidFill>
                  <a:srgbClr val="17202A"/>
                </a:solidFill>
              </a:rPr>
              <a:t xml:space="preserve"/>
            </a:r>
          </a:p>
          <a:p>
            <a:r>
              <a:rPr lang="en-US" sz="800">
                <a:solidFill>
                  <a:srgbClr val="17202A"/>
                </a:solidFill>
              </a:rPr>
              <a:t xml:space="preserve">- digital reception,</a:t>
            </a:r>
          </a:p>
          <a:p>
            <a:r>
              <a:rPr lang="en-US" sz="800">
                <a:solidFill>
                  <a:srgbClr val="17202A"/>
                </a:solidFill>
              </a:rPr>
              <a:t xml:space="preserve">- digital doctor workflow,</a:t>
            </a:r>
          </a:p>
          <a:p>
            <a:r>
              <a:rPr lang="en-US" sz="800">
                <a:solidFill>
                  <a:srgbClr val="17202A"/>
                </a:solidFill>
              </a:rPr>
              <a:t xml:space="preserve">- digital waiting room,</a:t>
            </a:r>
          </a:p>
          <a:p>
            <a:r>
              <a:rPr lang="en-US" sz="800">
                <a:solidFill>
                  <a:srgbClr val="17202A"/>
                </a:solidFill>
              </a:rPr>
              <a:t xml:space="preserve">- patient medical history in one place,</a:t>
            </a:r>
          </a:p>
          <a:p>
            <a:r>
              <a:rPr lang="en-US" sz="800">
                <a:solidFill>
                  <a:srgbClr val="17202A"/>
                </a:solidFill>
              </a:rPr>
              <a:t xml:space="preserve">- prescription and medicine history,</a:t>
            </a:r>
          </a:p>
          <a:p>
            <a:r>
              <a:rPr lang="en-US" sz="800">
                <a:solidFill>
                  <a:srgbClr val="17202A"/>
                </a:solidFill>
              </a:rPr>
              <a:t xml:space="preserve">- attachment/report storage,</a:t>
            </a:r>
          </a:p>
          <a:p>
            <a:r>
              <a:rPr lang="en-US" sz="800">
                <a:solidFill>
                  <a:srgbClr val="17202A"/>
                </a:solidFill>
              </a:rPr>
              <a:t xml:space="preserve">- offline payment handling,</a:t>
            </a:r>
          </a:p>
          <a:p>
            <a:r>
              <a:rPr lang="en-US" sz="800">
                <a:solidFill>
                  <a:srgbClr val="17202A"/>
                </a:solidFill>
              </a:rPr>
              <a:t xml:space="preserve">- controlled incognito patient records,</a:t>
            </a:r>
          </a:p>
          <a:p>
            <a:r>
              <a:rPr lang="en-US" sz="800">
                <a:solidFill>
                  <a:srgbClr val="17202A"/>
                </a:solidFill>
              </a:rPr>
              <a:t xml:space="preserve">- audit-safe visibility management,</a:t>
            </a:r>
          </a:p>
          <a:p>
            <a:r>
              <a:rPr lang="en-US" sz="800">
                <a:solidFill>
                  <a:srgbClr val="17202A"/>
                </a:solidFill>
              </a:rPr>
              <a:t xml:space="preserve">- trusted-person control for sensitive hospital operations.</a:t>
            </a:r>
          </a:p>
          <a:p>
            <a:r>
              <a:rPr lang="en-US" sz="800">
                <a:solidFill>
                  <a:srgbClr val="17202A"/>
                </a:solidFill>
              </a:rPr>
              <a:t xml:space="preserve"/>
            </a:r>
          </a:p>
          <a:p>
            <a:r>
              <a:rPr lang="en-US" sz="800">
                <a:solidFill>
                  <a:srgbClr val="17202A"/>
                </a:solidFill>
              </a:rPr>
              <a:t xml:space="preserve">In simple words:</a:t>
            </a:r>
          </a:p>
          <a:p>
            <a:r>
              <a:rPr lang="en-US" sz="800">
                <a:solidFill>
                  <a:srgbClr val="17202A"/>
                </a:solidFill>
              </a:rPr>
              <a:t xml:space="preserve"/>
            </a:r>
          </a:p>
          <a:p>
            <a:r>
              <a:rPr lang="en-US" sz="800">
                <a:solidFill>
                  <a:srgbClr val="17202A"/>
                </a:solidFill>
              </a:rPr>
              <a:t xml:space="preserve">The doctor should know who is next, open the full patient history on screen, treat faster with better context, maintain medicine and prescription history, and the hospital should control which records remain normal and which records are handled as incognito.</a:t>
            </a:r>
          </a:p>
        </p:txBody>
      </p:sp>
      <p:sp>
        <p:nvSpPr>
          <p:cNvPr id="7" name="TextBox 7"/>
          <p:cNvSpPr txBox="1"/>
          <p:nvPr/>
        </p:nvSpPr>
        <p:spPr>
          <a:xfrm>
            <a:off x="502920" y="5779008"/>
            <a:ext cx="9144000" cy="228600"/>
          </a:xfrm>
          <a:prstGeom prst="roundRect">
            <a:avLst/>
          </a:prstGeom>
          <a:noFill/>
          <a:ln>
            <a:noFill/>
          </a:ln>
        </p:spPr>
        <p:txBody>
          <a:bodyPr wrap="square" anchor="t" lIns="152400" tIns="114300" rIns="152400" bIns="114300"/>
          <a:lstStyle/>
          <a:p>
            <a:r>
              <a:rPr lang="en-US" sz="1000" b="1">
                <a:solidFill>
                  <a:srgbClr val="94A3B8"/>
                </a:solidFill>
              </a:rPr>
              <a:t xml:space="preserve">Full README reference</a:t>
            </a:r>
          </a:p>
        </p:txBody>
      </p:sp>
    </p:spTree>
  </p:cSld>
  <p:clrMapOvr>
    <a:masterClrMapping/>
  </p:clrMapOvr>
</p:sld>
</file>

<file path=ppt/theme/theme1.xml><?xml version="1.0" encoding="utf-8"?>
<a:theme xmlns:a="http://schemas.openxmlformats.org/drawingml/2006/main" name="Smart Health 360">
  <a:themeElements>
    <a:clrScheme name="Smart Health 360">
      <a:dk1>
        <a:srgbClr val="17202A"/>
      </a:dk1>
      <a:lt1>
        <a:srgbClr val="FFFFFF"/>
      </a:lt1>
      <a:dk2>
        <a:srgbClr val="334155"/>
      </a:dk2>
      <a:lt2>
        <a:srgbClr val="F8FAFC"/>
      </a:lt2>
      <a:accent1>
        <a:srgbClr val="0F766E"/>
      </a:accent1>
      <a:accent2>
        <a:srgbClr val="1D4ED8"/>
      </a:accent2>
      <a:accent3>
        <a:srgbClr val="B45309"/>
      </a:accent3>
      <a:accent4>
        <a:srgbClr val="15803D"/>
      </a:accent4>
      <a:accent5>
        <a:srgbClr val="9F1239"/>
      </a:accent5>
      <a:accent6>
        <a:srgbClr val="5D6D7E"/>
      </a:accent6>
      <a:hlink>
        <a:srgbClr val="1D4ED8"/>
      </a:hlink>
      <a:folHlink>
        <a:srgbClr val="0F766E"/>
      </a:folHlink>
    </a:clrScheme>
    <a:fontScheme name="Arial">
      <a:majorFont>
        <a:latin typeface="Arial"/>
      </a:majorFont>
      <a:minorFont>
        <a:latin typeface="Arial"/>
      </a:minorFont>
    </a:fontScheme>
    <a:fmtScheme name="Clean">
      <a:fillStyleLst/>
      <a:lnStyleLst/>
      <a:effectStyleLst/>
      <a:bgFillStyleLst/>
    </a:fmtScheme>
  </a:themeElements>
</a:theme>
</file>

<file path=docProps/app.xml><?xml version="1.0" encoding="utf-8"?>
<Properties xmlns="http://schemas.openxmlformats.org/officeDocument/2006/extended-properties" xmlns:vt="http://schemas.openxmlformats.org/officeDocument/2006/docPropsVTypes">
  <Application>Smart Health 360</Application>
  <PresentationFormat>Widescreen</PresentationFormat>
  <Slides>44</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Health 360 Project Flow</dc:title>
  <dc:creator>Smart Health 360</dc:creator>
  <cp:lastModifiedBy>Smart Health 360</cp:lastModifiedBy>
  <dcterms:created xsi:type="dcterms:W3CDTF">2026-05-23T09:30:14Z</dcterms:created>
  <dcterms:modified xsi:type="dcterms:W3CDTF">2026-05-23T09:30:14Z</dcterms:modified>
</cp:coreProperties>
</file>